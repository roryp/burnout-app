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DETERMINISTIC LANE</a:t>
            </a:r>
          </a:p>
          <a:p>
            <a:r>
              <a:t>1. Ingestion — Issues loaded from in-memory cache (populated by seed, sync, or MCP).</a:t>
            </a:r>
          </a:p>
          <a:p>
            <a:r>
              <a:t>2. Chaos Metrics — Runs FIRST. Five boolean signals each worth 2 points: mystery meat ≥ 3, urgent ≥ 3, context switching ≥ 6, after-hours, label sprawl ≥ 12. Score 0–10.</a:t>
            </a:r>
          </a:p>
          <a:p>
            <a:r>
              <a:t>3. Classify + Comply — Runs SECOND. IssueClassifierService sorts issues into DEEP_WORK / QUICK_WIN / MAINTENANCE / DEFERRED (first match wins). ComplianceService checks 8 violation rules (score 100 → 0). 3-3-3 day plan built here too (classification runs twice).</a:t>
            </a:r>
          </a:p>
          <a:p>
            <a:r>
              <a:t>4. Stress Score — WorldState aggregates chaos + classification into 12 capped variables. Six components summed: Workload (0–40), Chaos (0–30), Context Switching (0–15), Clarity (0–10), Sustained (0–15), After Hours (0–10). Total capped at 100. This is the BEFORE score.</a:t>
            </a:r>
          </a:p>
          <a:p/>
          <a:p>
            <a:r>
              <a:t>AI AGENTS LANE (reshape only — checkin and flamegraph skip this)</a:t>
            </a:r>
          </a:p>
          <a:p>
            <a:r>
              <a:t>5. Supervisor receives the fully-calculated WorldState and orchestrates 5 sub-agents. ClassifyAgent RECLASSIFIES issues by adding labels (quick-win, deep-work, maintenance). DeferAgent adds deferred + next-sprint. DelegateAgent adds delegated + needs-owner. ScopeAgent adds needs-scope + blocked. WellnessAgent suggests breaks. Every agent has a deterministic fallback when LLM is unavailable.</a:t>
            </a:r>
          </a:p>
          <a:p/>
          <a:p>
            <a:r>
              <a:t>OUTPUT LANE</a:t>
            </a:r>
          </a:p>
          <a:p>
            <a:r>
              <a:t>6a. Apply Mutations — Agent's label changes written to IssueCache (not GitHub directly).</a:t>
            </a:r>
          </a:p>
          <a:p>
            <a:r>
              <a:t>6b. Recalculate — The ENTIRE deterministic pipeline reruns on mutated issues. Chaos recalculated, classification re-runs with new labels → different buckets, new stress score computed. This is the AFTER score (how 100→10 happens).</a:t>
            </a:r>
          </a:p>
          <a:p>
            <a:r>
              <a:t>6c. Friday Score — Deploy readiness: READY ≥ 80, CAUTION ≥ 50, NOT_READY &lt; 50.</a:t>
            </a:r>
          </a:p>
          <a:p>
            <a:r>
              <a:t>6d. Persist Snapshot — JPA StressSnapshot with all 6 components + optional self-report. Powers the Study Dashboard trend charts.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8FAFC"/>
                </a:solidFill>
                <a:latin typeface="Segoe UI"/>
              </a:defRPr>
            </a:pPr>
            <a:r>
              <a:t>Reshape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03120" y="1097280"/>
            <a:ext cx="9601200" cy="1417320"/>
          </a:xfrm>
          <a:prstGeom prst="rect">
            <a:avLst/>
          </a:prstGeom>
          <a:solidFill>
            <a:srgbClr val="141E30"/>
          </a:solidFill>
          <a:ln w="9525">
            <a:solidFill>
              <a:srgbClr val="3344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103120" y="2743200"/>
            <a:ext cx="9601200" cy="1234440"/>
          </a:xfrm>
          <a:prstGeom prst="rect">
            <a:avLst/>
          </a:prstGeom>
          <a:solidFill>
            <a:srgbClr val="141E30"/>
          </a:solidFill>
          <a:ln w="9525">
            <a:solidFill>
              <a:srgbClr val="3344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03120" y="4206240"/>
            <a:ext cx="9601200" cy="1234440"/>
          </a:xfrm>
          <a:prstGeom prst="rect">
            <a:avLst/>
          </a:prstGeom>
          <a:solidFill>
            <a:srgbClr val="141E30"/>
          </a:solidFill>
          <a:ln w="9525">
            <a:solidFill>
              <a:srgbClr val="3344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544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DD4BF"/>
                </a:solidFill>
                <a:latin typeface="Segoe UI"/>
              </a:defRPr>
            </a:pPr>
            <a:r>
              <a:t>DETERMINISTIC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0632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B7185"/>
                </a:solidFill>
                <a:latin typeface="Segoe UI"/>
              </a:defRPr>
            </a:pPr>
            <a:r>
              <a:t>AI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333756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(reshape only)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818CF8"/>
                </a:solidFill>
                <a:latin typeface="Segoe UI"/>
              </a:defRPr>
            </a:pPr>
            <a:r>
              <a:t>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1417320"/>
            <a:ext cx="1965960" cy="777240"/>
          </a:xfrm>
          <a:prstGeom prst="roundRect">
            <a:avLst>
              <a:gd name="adj" fmla="val 15000"/>
            </a:avLst>
          </a:prstGeom>
          <a:solidFill>
            <a:srgbClr val="0B1A31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16184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8FAFC"/>
                </a:solidFill>
                <a:latin typeface="Segoe UI"/>
              </a:defRPr>
            </a:pPr>
            <a:r>
              <a:t>Ingestion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417320"/>
            <a:ext cx="1965960" cy="777240"/>
          </a:xfrm>
          <a:prstGeom prst="roundRect">
            <a:avLst>
              <a:gd name="adj" fmla="val 15000"/>
            </a:avLst>
          </a:prstGeom>
          <a:solidFill>
            <a:srgbClr val="311F02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6184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8FAFC"/>
                </a:solidFill>
                <a:latin typeface="Segoe UI"/>
              </a:defRPr>
            </a:pPr>
            <a:r>
              <a:t>Chaos Metrics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1417320"/>
            <a:ext cx="1965960" cy="777240"/>
          </a:xfrm>
          <a:prstGeom prst="roundRect">
            <a:avLst>
              <a:gd name="adj" fmla="val 15000"/>
            </a:avLst>
          </a:prstGeom>
          <a:solidFill>
            <a:srgbClr val="211B32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16184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8FAFC"/>
                </a:solidFill>
                <a:latin typeface="Segoe UI"/>
              </a:defRPr>
            </a:pPr>
            <a:r>
              <a:t>Classify + Comply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1417320"/>
            <a:ext cx="1965960" cy="777240"/>
          </a:xfrm>
          <a:prstGeom prst="roundRect">
            <a:avLst>
              <a:gd name="adj" fmla="val 15000"/>
            </a:avLst>
          </a:prstGeom>
          <a:solidFill>
            <a:srgbClr val="092A26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618488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8FAFC"/>
                </a:solidFill>
                <a:latin typeface="Segoe UI"/>
              </a:defRPr>
            </a:pPr>
            <a:r>
              <a:t>Stress Score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389120" y="1714500"/>
            <a:ext cx="320040" cy="18288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6766560" y="1714500"/>
            <a:ext cx="320040" cy="18288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9144000" y="1714500"/>
            <a:ext cx="320040" cy="18288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wn Arrow 20"/>
          <p:cNvSpPr/>
          <p:nvPr/>
        </p:nvSpPr>
        <p:spPr>
          <a:xfrm>
            <a:off x="10401300" y="2240280"/>
            <a:ext cx="182880" cy="777240"/>
          </a:xfrm>
          <a:prstGeom prst="down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46320" y="2971800"/>
            <a:ext cx="4114800" cy="777240"/>
          </a:xfrm>
          <a:prstGeom prst="roundRect">
            <a:avLst>
              <a:gd name="adj" fmla="val 15000"/>
            </a:avLst>
          </a:prstGeom>
          <a:solidFill>
            <a:srgbClr val="32161A"/>
          </a:solidFill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1729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8FAFC"/>
                </a:solidFill>
                <a:latin typeface="Segoe UI"/>
              </a:defRPr>
            </a:pPr>
            <a:r>
              <a:t>Supervisor → Sub-Agents → Label Mutations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812280" y="3794760"/>
            <a:ext cx="182880" cy="640080"/>
          </a:xfrm>
          <a:prstGeom prst="down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377440" y="443484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191C31"/>
          </a:solidFill>
          <a:ln w="1905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77440" y="46360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8FAFC"/>
                </a:solidFill>
                <a:latin typeface="Segoe UI"/>
              </a:defRPr>
            </a:pPr>
            <a:r>
              <a:t>Apply Mutations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36592" y="443484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311F02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2" y="46360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8FAFC"/>
                </a:solidFill>
                <a:latin typeface="Segoe UI"/>
              </a:defRPr>
            </a:pPr>
            <a:r>
              <a:t>Recalculate 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95744" y="443484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092A26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6360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8FAFC"/>
                </a:solidFill>
                <a:latin typeface="Segoe UI"/>
              </a:defRPr>
            </a:pPr>
            <a:r>
              <a:t>Friday Score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54896" y="4434840"/>
            <a:ext cx="2011680" cy="777240"/>
          </a:xfrm>
          <a:prstGeom prst="roundRect">
            <a:avLst>
              <a:gd name="adj" fmla="val 15000"/>
            </a:avLst>
          </a:prstGeom>
          <a:solidFill>
            <a:srgbClr val="191C31"/>
          </a:solidFill>
          <a:ln w="1905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4896" y="46360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8FAFC"/>
                </a:solidFill>
                <a:latin typeface="Segoe UI"/>
              </a:defRPr>
            </a:pPr>
            <a:r>
              <a:t>Persist Snapshot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4407408" y="4732020"/>
            <a:ext cx="310896" cy="18288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ight Arrow 33"/>
          <p:cNvSpPr/>
          <p:nvPr/>
        </p:nvSpPr>
        <p:spPr>
          <a:xfrm>
            <a:off x="6766560" y="4732020"/>
            <a:ext cx="310896" cy="18288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ight Arrow 34"/>
          <p:cNvSpPr/>
          <p:nvPr/>
        </p:nvSpPr>
        <p:spPr>
          <a:xfrm>
            <a:off x="9125712" y="4732020"/>
            <a:ext cx="310896" cy="18288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0" y="5806440"/>
            <a:ext cx="12191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475569"/>
                </a:solidFill>
                <a:latin typeface="Segoe UI"/>
              </a:defRPr>
            </a:pPr>
            <a:r>
              <a:t>Deterministic first  →  AI acts  →  Recalculate  →  Persist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