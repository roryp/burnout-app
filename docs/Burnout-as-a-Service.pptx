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77" r:id="rId14"/>
    <p:sldId id="271" r:id="rId15"/>
    <p:sldId id="273" r:id="rId16"/>
    <p:sldId id="274" r:id="rId17"/>
    <p:sldId id="275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1260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Burnout-as-a-Service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AI-Powered Burnout Prevention for Developers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9319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Segoe UI"/>
              </a:defRPr>
            </a:pPr>
            <a:r>
              <a:t>LangChain4j Supervisor Pattern  •  Azure OpenAI (gpt-5.2)  •  GitHub MCP Integration</a:t>
            </a:r>
            <a:br/>
            <a:r>
              <a:t>Analyzes issues, detects stress signals, and organizes your day using the 3-3-3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4864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Segoe UI"/>
              </a:defRPr>
            </a:pPr>
            <a:r>
              <a:t>Live Demo: https://aka.ms/burnout-app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FABDB7-F565-2EC1-4691-89EFDB65AA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8414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Scene 1: The Breaking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Segoe UI"/>
              </a:defRPr>
            </a:pPr>
            <a:r>
              <a:t>Alex stares at their screen. 12 open issues, 3 critical bugs, Slack piling up, and it's 7 PM. No plan, no priorities — just an avalanche of work.</a:t>
            </a:r>
          </a:p>
        </p:txBody>
      </p:sp>
      <p:pic>
        <p:nvPicPr>
          <p:cNvPr id="4" name="Picture 3" descr="scene1-overwhelmed-develo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943600" cy="39624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132320" y="2103120"/>
            <a:ext cx="4389120" cy="3840480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22860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Segoe UI"/>
              </a:defRPr>
            </a:pPr>
            <a:r>
              <a:t>Maslach Burnout Inventory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2926080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Emotional exhaustion — working late, no recovery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Depersonalization — issues blur together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Reduced accomplishment — nothing feels 'done'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12 context switches have depleted working memory.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Cognitive load is at maximum.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Scene 2: The 3-3-3 Day Structure</a:t>
            </a:r>
          </a:p>
        </p:txBody>
      </p:sp>
      <p:pic>
        <p:nvPicPr>
          <p:cNvPr id="3" name="Picture 2" descr="scene2-333-day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400800" cy="426720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0" y="1645920"/>
          <a:ext cx="4572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Slot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Psychology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Deep 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Cognitively demanding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Flow state (Csikszentmihalyi)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Quick Wins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Small, completable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Dopamine from completion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Maintenance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Routine upkeep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Low overhead, batch-processable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endParaRPr/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Miller's Law: 7 ± 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41148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Overflow beyond 7 active items → automatically deferred.</a:t>
            </a:r>
            <a:br/>
            <a:r>
              <a:t>Deep work gets a protected 90-minute block.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Scene 3: Issue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Segoe UI"/>
              </a:defRPr>
            </a:pPr>
            <a:r>
              <a:t>Deterministic, priority-ordered first-match cascade. No LLM required — pure pattern matching.</a:t>
            </a:r>
          </a:p>
        </p:txBody>
      </p:sp>
      <p:pic>
        <p:nvPicPr>
          <p:cNvPr id="4" name="Picture 3" descr="scene3-issue-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6400800" cy="4267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0" y="2011680"/>
          <a:ext cx="457200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Priority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Bucket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Label Triggers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DEEP_WORK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priority:critical, architecture, security, deep-work, performance, RFC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2nd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QUICK_WIN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good-first-issue, quick-win, size:S, typo, chore, CSS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MAINTENANCE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dependencies, documentation, maintenance, tech-debt, refactor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4th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DEFERRED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Everything else (no matching labels)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Scene 4: Stress Score Algorithm</a:t>
            </a:r>
          </a:p>
        </p:txBody>
      </p:sp>
      <p:pic>
        <p:nvPicPr>
          <p:cNvPr id="3" name="Picture 2" descr="scene4-stress-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583680" cy="4213555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0" y="1645920"/>
          <a:ext cx="457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Formula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Workload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min(20, (assigned−7)×4) + deep work penalties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Chaos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chaosBucket.ordinal() × 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Context Switching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min(15, (touchedToday−5)×3)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Clarity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min(10, mysteryMeat×2) + min(5, unclearQW)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Sustained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min(15, consecutiveHighDays×5)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After-Hours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min(10, afterHoursIssues×5)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132320" y="4572000"/>
            <a:ext cx="4572000" cy="1645920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46634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Stress Levels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02920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  <a:latin typeface="Segoe UI"/>
              </a:defRPr>
            </a:pPr>
            <a:r>
              <a:t>≥ 70  CRITICAL  🔴</a:t>
            </a:r>
            <a:br/>
            <a:r>
              <a:t>≥ 50  HIGH  🟠</a:t>
            </a:r>
            <a:br/>
            <a:r>
              <a:t>≥ 30  MODERATE  🟡</a:t>
            </a:r>
            <a:br/>
            <a:r>
              <a:t>&lt; 30  LOW  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Scene 5: The Supervisor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78D4"/>
                </a:solidFill>
                <a:latin typeface="Segoe UI"/>
              </a:defRPr>
            </a:pPr>
            <a:r>
              <a:t>LangChain4j Supervisor Pattern  •  gpt-5.2  •  SUMMARY Strategy  •  Max 10 Invocations</a:t>
            </a:r>
          </a:p>
        </p:txBody>
      </p:sp>
      <p:pic>
        <p:nvPicPr>
          <p:cNvPr id="4" name="Picture 3" descr="scene5-supervisor-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91382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5 Sub-Agents + 9 Mutation Tools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Tools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Psychology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DeferAgent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Push non-critical to next sprint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deferIssue()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Reduces cognitive load by shrinking active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DelegateAgent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Redistribute across team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delegateIssue()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"I don't have to do everything"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ClassifyAgent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Organize into 3-3-3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markAsDeepWork(), classifyAsQuickWin(), classifyAsMaintenance()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Imposes order on chaos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ScopeAgent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Flag unclear issues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addScopeNeeded()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Eliminates 'mystery meat' ambiguity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WellnessAgent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Recommend self-care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suggestBreak(), slowIntake(), blockCalendarTime()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Direct burnout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Segoe UI"/>
              </a:defRPr>
            </a:pPr>
            <a:r>
              <a:t>3 AI Personas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5029200"/>
          <a:ext cx="7315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Persona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ExplainerAiService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Supportive productivity coach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Explain the why behind the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ProtectiveAiService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Protective AI companion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Emotional support (Plutchik model)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FridayDeployAiService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Calm release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Deploy risk assessment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Algorithm Pipeline — End to End</a:t>
            </a:r>
          </a:p>
        </p:txBody>
      </p:sp>
      <p:pic>
        <p:nvPicPr>
          <p:cNvPr id="3" name="Picture 2" descr="algorithm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612880" cy="653224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Scene 6: The Flamegraph — BEFORE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F4444"/>
                </a:solidFill>
                <a:latin typeface="Segoe UI"/>
              </a:defRPr>
            </a:pPr>
            <a:r>
              <a:t>12 issues with no labels → all dumped into Deferred. No structure at all.</a:t>
            </a:r>
          </a:p>
        </p:txBody>
      </p:sp>
      <p:pic>
        <p:nvPicPr>
          <p:cNvPr id="4" name="Picture 3" descr="flamegraph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1702399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Scene 7: The Flamegraph —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0B981"/>
                </a:solidFill>
                <a:latin typeface="Segoe UI"/>
              </a:defRPr>
            </a:pPr>
            <a:r>
              <a:t>Same 12 issues → now structured into 1 Deep Work, 3 Quick Wins, 3 Maintenance, 5 Deferred.</a:t>
            </a:r>
          </a:p>
        </p:txBody>
      </p:sp>
      <p:pic>
        <p:nvPicPr>
          <p:cNvPr id="4" name="Picture 3" descr="flamegraph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153436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Scene 8: The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Segoe UI"/>
              </a:defRPr>
            </a:pPr>
            <a:r>
              <a:t>Same issues, same deadlines — but structured. That's the difference between burnout and balance.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201168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Before (No Labels)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After (Reshaped)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Deep 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Quick Wins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Maintenance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Deferred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12 (all)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 (intentional)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Stress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25/100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20/100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3-3-3 Compliant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No ❌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Yes 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9CEA9E9-9FB2-B261-6557-A3956AFB2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037" y="0"/>
            <a:ext cx="934392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8202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Graceful Degradation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78D4"/>
                </a:solidFill>
                <a:latin typeface="Segoe UI"/>
              </a:defRPr>
            </a:pPr>
            <a:r>
              <a:t>Core principle: every AI feature must work without AI.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2011680"/>
          <a:ext cx="10058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Level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State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Behavior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Full LLM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AI explanations, emotional support, supervisor active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LLM call fails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Catch exception → fallback; all metrics still accurate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LLM not configured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llmEnabled = false → full deterministic with pre-written messages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Backend partial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Health returns UP; endpoints degrade independently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4389120"/>
            <a:ext cx="10058400" cy="1828800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448056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93B"/>
                </a:solidFill>
                <a:latin typeface="Segoe UI"/>
              </a:defRPr>
            </a:pPr>
            <a:r>
              <a:t>Why This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937760"/>
            <a:ext cx="9692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  <a:latin typeface="Segoe UI"/>
              </a:defRPr>
            </a:pPr>
            <a:r>
              <a:t>If a burnout prevention tool fails when you need it most, it increases stress instead of reducing it. All metrics are deterministic — stress scores, chaos, compliance, classification, and day plans compute without any LLM. AI agents only add the how (mutation plan) and why (explanation).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Architecture &amp; MCP Usage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End-to-End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1. Sync — GitHub issues → IssueCache (ConcurrentHashMap)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2. Calculate — ChaosMetrics, Compliance, Classification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3. Build WorldState — 18 capped variables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4. Invoke Supervisor — planner coordinates 5 sub-agents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5. Accumulate Mutations — @Tool methods → pendingActions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6. Return Response — plan, scores, protective messages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4 MCP Tools (VS Code Copilot Chat)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73736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sync_issues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Fetch GitHub issues and sync to backend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show_burnout_wheel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Interactive flamegraph with 3-3-3 plan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reshape_day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AI-powered optimization — applies labels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get_stress_score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Stress score 0–100 (LOW → CRITICAL)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3840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Usage in VS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389120"/>
            <a:ext cx="5486400" cy="20116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448056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B981"/>
                </a:solidFill>
                <a:latin typeface="Consolas"/>
              </a:defRPr>
            </a:pPr>
            <a:r>
              <a:t>Sync issues for owner/repo</a:t>
            </a:r>
            <a:br/>
            <a:r>
              <a:t>Show my burnout wheel for owner/repo</a:t>
            </a:r>
            <a:br/>
            <a:r>
              <a:t>Reshape my day for owner/repo</a:t>
            </a:r>
            <a:br/>
            <a:r>
              <a:t>What's my stress score for owner/repo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293B"/>
                </a:solidFill>
                <a:latin typeface="Segoe UI"/>
              </a:defRPr>
            </a:pPr>
            <a:r>
              <a:t>Quick Start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Option A: Deploy to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Prerequisites: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• GitHub CLI — gh auth login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• VS Code with GitHub Copilot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• Node.js 18+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One command: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azd auth login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azd up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Provisions: Container Apps, Azure OpenAI,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ACR, managed identity (Bicep)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557784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Option B: Run Locally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92024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Requires: Java 21+, Maven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Backend: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cd backend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mvn clean package -DskipTests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java -jar target/burnout-backend-*.jar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MCP App: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cd mcp-app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  npm install &amp;&amp; npm run build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endParaRPr/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Reload VS Code — .vscode/mcp.json pre-configured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Burnout-as-a-Service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Segoe UI"/>
              </a:defRPr>
            </a:pPr>
            <a:r>
              <a:t>Not less work — structured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Segoe UI"/>
              </a:defRPr>
            </a:pPr>
            <a:r>
              <a:t>Live Demo: https://aka.ms/burnout-app</a:t>
            </a:r>
            <a:br/>
            <a:r>
              <a:t>GitHub: github.com/roryp/burnout-app</a:t>
            </a:r>
            <a:br/>
            <a:r>
              <a:t>Psychology Deep-Dive: docs/PSYCHOLOGY.md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5486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Segoe UI"/>
              </a:defRPr>
            </a:pPr>
            <a:r>
              <a:t>Java 21  •  Spring Boot 3  •  LangChain4j  •  Azure OpenAI  •  MCP  •  GitHub 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1058</Words>
  <Application>Microsoft Office PowerPoint</Application>
  <PresentationFormat>Widescreen</PresentationFormat>
  <Paragraphs>213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Rory Preddy</cp:lastModifiedBy>
  <cp:revision>5</cp:revision>
  <dcterms:created xsi:type="dcterms:W3CDTF">2013-01-27T09:14:16Z</dcterms:created>
  <dcterms:modified xsi:type="dcterms:W3CDTF">2026-03-02T09:50:38Z</dcterms:modified>
  <cp:category/>
</cp:coreProperties>
</file>