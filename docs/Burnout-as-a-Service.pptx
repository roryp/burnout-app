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2121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Burnout-as-a-Service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8D4"/>
                </a:solidFill>
                <a:latin typeface="Segoe UI"/>
              </a:defRPr>
            </a:pPr>
            <a:r>
              <a:t>AI-Powered Burnout Prevention 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LangChain4j Supervisor Pattern  •  Azure OpenAI (gpt-5.2)  •  GitHub MCP Integration</a:t>
            </a:r>
            <a:br/>
            <a:r>
              <a:t>Analyzes issues, detects stress signals, and organizes your day using the 3-3-3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Live Demo: https://aka.ms/burnout-app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Scene 1: The Breaking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Segoe UI"/>
              </a:defRPr>
            </a:pPr>
            <a:r>
              <a:t>Alex stares at their screen. 12 open issues, 3 critical bugs, Slack piling up, and it's 7 PM. No plan, no priorities — just an avalanche of work.</a:t>
            </a:r>
          </a:p>
        </p:txBody>
      </p:sp>
      <p:pic>
        <p:nvPicPr>
          <p:cNvPr id="4" name="Picture 3" descr="scene1-overwhelmed-develo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5943600" cy="3962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2103120"/>
            <a:ext cx="4389120" cy="384048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22860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Segoe UI"/>
              </a:defRPr>
            </a:pPr>
            <a:r>
              <a:t>Maslach Burnout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92608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Emotional exhaustion — working late, no recovery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Depersonalization — issues blur together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Reduced accomplishment — nothing feels 'done'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12 context switches have depleted working memory.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Cognitive load is at maximum.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Scene 2: The 3-3-3 Day Structure</a:t>
            </a:r>
          </a:p>
        </p:txBody>
      </p:sp>
      <p:pic>
        <p:nvPicPr>
          <p:cNvPr id="3" name="Picture 2" descr="scene2-333-day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400800" cy="42672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0" y="164592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Slot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Psychology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Deep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Cognitively demanding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Flow state (Csikszentmihalyi)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Quick Wins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Small, completable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Dopamine from completion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Routine upkeep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Low overhead, batch-processable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endParaRPr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Miller's Law: 7 ±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0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Overflow beyond 7 active items → automatically deferred.</a:t>
            </a:r>
            <a:br/>
            <a:r>
              <a:t>Deep work gets a protected 90-minute block.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Scene 3: Issue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Segoe UI"/>
              </a:defRPr>
            </a:pPr>
            <a:r>
              <a:t>Deterministic, priority-ordered first-match cascade. No LLM required — pure pattern matching.</a:t>
            </a:r>
          </a:p>
        </p:txBody>
      </p:sp>
      <p:pic>
        <p:nvPicPr>
          <p:cNvPr id="4" name="Picture 3" descr="scene3-issue-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400800" cy="4267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0" y="2011680"/>
          <a:ext cx="457200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Bucket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Label Triggers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DEEP_WORK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priority:critical, architecture, security, deep-work, performance, RFC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QUICK_WIN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good-first-issue, quick-win, size:S, typo, chore, CSS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dependencies, documentation, maintenance, tech-debt, refactor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DEFERRED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Everything else (no matching labels)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Scene 4: Stress Score Algorithm</a:t>
            </a:r>
          </a:p>
        </p:txBody>
      </p:sp>
      <p:pic>
        <p:nvPicPr>
          <p:cNvPr id="3" name="Picture 2" descr="scene4-stress-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583680" cy="421355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0" y="1645920"/>
          <a:ext cx="4572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min(20, (assigned−7)×4) + deep work penalties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Chaos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chaosBucket.ordinal() × 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Context Switching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min(15, (touchedToday−5)×3)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Clarity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min(10, mysteryMeat×2) + min(5, unclearQW)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Sustained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min(15, consecutiveHighDays×5)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After-Hours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min(10, afterHoursIssues×5)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0" y="4572000"/>
            <a:ext cx="4572000" cy="164592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46634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Stress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0292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Segoe UI"/>
              </a:defRPr>
            </a:pPr>
            <a:r>
              <a:t>≥ 70  CRITICAL  🔴</a:t>
            </a:r>
            <a:br/>
            <a:r>
              <a:t>≥ 50  HIGH  🟠</a:t>
            </a:r>
            <a:br/>
            <a:r>
              <a:t>≥ 30  MODERATE  🟡</a:t>
            </a:r>
            <a:br/>
            <a:r>
              <a:t>&lt; 30  LOW  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Scene 5: The Supervisor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8D4"/>
                </a:solidFill>
                <a:latin typeface="Segoe UI"/>
              </a:defRPr>
            </a:pPr>
            <a:r>
              <a:t>LangChain4j Supervisor Pattern  •  gpt-5.2  •  SUMMARY Strategy  •  Max 10 Invocations</a:t>
            </a:r>
          </a:p>
        </p:txBody>
      </p:sp>
      <p:pic>
        <p:nvPicPr>
          <p:cNvPr id="4" name="Picture 3" descr="scene5-supervisor-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91382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5 Sub-Agents + 9 Mutation Tools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Tools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Psychology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DeferAgent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Push non-critical to next sprint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deferIssue()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Reduces cognitive load by shrinking active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DelegateAgent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Redistribute across team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delegateIssue()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"I don't have to do everything"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ClassifyAgent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Organize into 3-3-3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markAsDeepWork(), classifyAsQuickWin(), classifyAsMaintenance()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Imposes order on chaos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ScopeAgent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Flag unclear issues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addScopeNeeded()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Eliminates 'mystery meat' ambiguity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WellnessAgent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Recommend self-care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suggestBreak(), slowIntake(), blockCalendarTime()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Direct burnout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Segoe UI"/>
              </a:defRPr>
            </a:pPr>
            <a:r>
              <a:t>3 AI Personas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502920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Persona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ExplainerAiService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Supportive productivity coach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Explain the why behind the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ProtectiveAiService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Protective AI companion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Emotional support (Plutchik model)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FridayDeployAiService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Calm release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Deploy risk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Algorithm Pipeline — End to End</a:t>
            </a:r>
          </a:p>
        </p:txBody>
      </p:sp>
      <p:pic>
        <p:nvPicPr>
          <p:cNvPr id="3" name="Picture 2" descr="algorithm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65322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Scene 6: The Flamegraph — 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4444"/>
                </a:solidFill>
                <a:latin typeface="Segoe UI"/>
              </a:defRPr>
            </a:pPr>
            <a:r>
              <a:t>12 issues with no labels → all dumped into Deferred. No structure at all.</a:t>
            </a:r>
          </a:p>
        </p:txBody>
      </p:sp>
      <p:pic>
        <p:nvPicPr>
          <p:cNvPr id="4" name="Picture 3" descr="flamegraph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170239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Scene 7: The Flamegraph —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  <a:latin typeface="Segoe UI"/>
              </a:defRPr>
            </a:pPr>
            <a:r>
              <a:t>Same 12 issues → now structured into 1 Deep Work, 3 Quick Wins, 3 Maintenance, 5 Deferred.</a:t>
            </a:r>
          </a:p>
        </p:txBody>
      </p:sp>
      <p:pic>
        <p:nvPicPr>
          <p:cNvPr id="4" name="Picture 3" descr="flamegraph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153436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Scene 8: 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Segoe UI"/>
              </a:defRPr>
            </a:pPr>
            <a:r>
              <a:t>Same issues, same deadlines — but structured. That's the difference between burnout and balance.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201168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Before (No Labels)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After (Reshaped)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Deep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Quick Wins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Deferred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 (all)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 (intentional)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Stress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25/100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3-3-3 Compliant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Yes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Chaos Metrics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Chaos Score (0–10) — 5 Binary Signals × 2 pts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73736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It Reveals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Mystery meat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≥ 3 blank issues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Poor issue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Unresolved urgent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≥ 3 items &gt; 24h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Broken priorities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Touched today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≥ 6 in 60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Reactive firefighting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After-hours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Outside 8am–6pm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Boundary erosion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Label explosion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≥ 12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Taxonomy chaos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Compliance (100 → 0) — 8 Violations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73736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Violation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Deduction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MULTIPLE_DEEP_WORK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−25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TOTAL_OVERLOAD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−25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CONTEXT_SWITCHING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−25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QUICK_WIN_OVERLOAD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WARNING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−10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MAINTENANCE_OVERLOAD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−10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UNCLEAR_QUICK_WINS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WARNING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−10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NO_DEEP_WORK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−5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DEFERRED_GROWING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INFO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−5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19" y="365760"/>
            <a:ext cx="105210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rPr dirty="0"/>
              <a:t>Emotional Detection &amp; Protective Intervention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Plutchik Model — 4 Emotions Detected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73736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Emotion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Family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Signals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Frustration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Anger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Context switches &gt; 5, blocked 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Exhaustion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Sadness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After-hours, consecutive high days ≥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Overwhelm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Surprise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Deep work &gt; 1, assigned &gt;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Anxiety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Fear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Stale urgent items, mystery meat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Protection Circuit Breaker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7373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Sustained stress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consecutiveHighDays ≥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Boundary erosion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hasAfterHoursActivity()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Acute overload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stressScore ≥ 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Cognitive capacity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totalAssigned &gt; 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3657600"/>
            <a:ext cx="5486400" cy="256032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37490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AI Response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✓ Validate without patronizing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✓ Concrete suggestions only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✓ Brevity — stressed people have reduced reading comprehension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✓ No guilt or shame — focus on self-care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✓ One actionable item — decision fatigue is real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Flamegraph Visualization Psychology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Segoe UI"/>
              </a:defRPr>
            </a:pPr>
            <a:r>
              <a:t>The flamegraph is a stress communication tool — fire metaphors trigger the brain's threat detection system.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Psychology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Why It Works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🔥 Fire = Danger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Primal association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Immediate emotional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📊 Height = Depth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Taller bars feel 'heavier'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Visual weight = cognitive weight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🚦 Color = Urgency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Red / Amber / 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Traffic light intuition (universal)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↔️ Width = Proportion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Wider = more impact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Relative comparison at a glance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0" y="1828800"/>
            <a:ext cx="4389120" cy="411480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79" y="1920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Per-Issue Stress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3774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stress = base + (complexity × 3) + (global × 0.3) + bonuses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3017520"/>
          <a:ext cx="4023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Bonuses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Deep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urgent/critical: +20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Maintenance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bug: +10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Quick Wins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Deferred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50292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Colors: &lt; 35% 🟢  •  35–64% 🟡  •  ≥ 65% 🔴</a:t>
            </a:r>
            <a:br/>
            <a:r>
              <a:t>Global stress leak (×0.3): high-stress environments make every task feel harder.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Friday Deploy &amp; Calendar Fragmentation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Friday Deploy Score (0–100)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73736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Deduction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chaos &gt;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−20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chaos &gt; 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−20 (cumulative: −40)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!isCompliant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−15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urgentUnassigned &gt; 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−15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afterHoursSignal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−10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mysteryMeat &gt; 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−10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Segoe UI"/>
              </a:defRPr>
            </a:pPr>
            <a:r>
              <a:t>≥ 80  READY 🟢  •  50–79  CAUTION 🟡  •  &lt; 50  NOT READY 🔴</a:t>
            </a:r>
            <a:br/>
            <a:br/>
            <a:r>
              <a:t>Counters optimism bias and completion bias:</a:t>
            </a:r>
            <a:br/>
            <a:r>
              <a:t>"It'll be fine" + "Just finish it before the weekend"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188720"/>
            <a:ext cx="5760720" cy="502920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Calendar Fragmentation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1168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Deep Work Feasibility Threshold: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largestFreeBlock ≥ 90 minutes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Why 90 minutes?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23 min — ramp-up to flow state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60 min — productive deep work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7 min — buffer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No 90-min block → calendarBlocked = true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→ deep work item deferred automatically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Graceful Degradation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Core principle: every AI feature must work without AI.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1168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Full LLM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AI explanations, emotional support, supervisor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LLM call fails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Catch exception → fallback; all metrics still accurate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LLM not configured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llmEnabled = false → full deterministic with pre-written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Backend partial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Health returns UP; endpoints degrade independently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389120"/>
            <a:ext cx="10058400" cy="182880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448056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Segoe UI"/>
              </a:defRPr>
            </a:pPr>
            <a: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969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If a burnout prevention tool fails when you need it most, it increases stress instead of reducing it. All metrics are deterministic — stress scores, chaos, compliance, classification, and day plans compute without any LLM. AI agents only add the how (mutation plan) and why (explanation).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Theoretical Foundations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Concept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Maslach Burnout 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 dimensions: exhaustion,</a:t>
                      </a:r>
                    </a:p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depersonalization, accomplishment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After-hours → exhaustion</a:t>
                      </a:r>
                    </a:p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Blank issues → depersonalization</a:t>
                      </a:r>
                    </a:p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deep work → reduced accomplishment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Cognitive Load Theory</a:t>
                      </a:r>
                    </a:p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(Sweller, 1988)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Working memory is limited;</a:t>
                      </a:r>
                    </a:p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extraneous load = enemy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3-3-3 cap at 7 items;</a:t>
                      </a:r>
                    </a:p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classification removes ambiguity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Yerkes-Dodson Law (1908)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Performance peaks at</a:t>
                      </a:r>
                    </a:p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moderate stress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Targets 30–50 (MODERATE)</a:t>
                      </a:r>
                    </a:p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as optimal zone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Deep Work (Newport, 2016)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90+ min uninterrupted</a:t>
                      </a:r>
                    </a:p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blocks for flow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Calendar fragmentation check;</a:t>
                      </a:r>
                    </a:p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exactly 1 deep work per day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Pomodoro / Time Boxing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Short intervals with</a:t>
                      </a:r>
                    </a:p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breaks maintain energy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Quick wins as break-points</a:t>
                      </a:r>
                    </a:p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between deep work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Plutchik's Wheel (2001)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 primary emotions with</a:t>
                      </a:r>
                    </a:p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behavioral signatures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 emotions detected from</a:t>
                      </a:r>
                    </a:p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GitHub signals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Architecture &amp; MCP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1. Sync — GitHub issues → IssueCache (ConcurrentHashMap)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2. Calculate — ChaosMetrics, Compliance, Classification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3. Build WorldState — 18 capped variables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4. Invoke Supervisor — planner coordinates 5 sub-agents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5. Accumulate Mutations — @Tool methods → pendingActions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6. Return Response — plan, scores, protective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4 MCP Tools (VS Code Copilot Chat)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7373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sync_issues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Fetch GitHub issues and sync to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show_burnout_wheel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Interactive flamegraph with 3-3-3 plan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reshape_day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AI-powered optimization — applies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get_stress_score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Stress score 0–100 (LOW → CRITICAL)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Usage in VS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389120"/>
            <a:ext cx="54864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44805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Consolas"/>
              </a:defRPr>
            </a:pPr>
            <a:r>
              <a:t>Sync issues for owner/repo</a:t>
            </a:r>
            <a:br/>
            <a:r>
              <a:t>Show my burnout wheel for owner/repo</a:t>
            </a:r>
            <a:br/>
            <a:r>
              <a:t>Reshape my day for owner/repo</a:t>
            </a:r>
            <a:br/>
            <a:r>
              <a:t>What's my stress score for owner/repo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Quick Start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Option A: Deploy to 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Prerequisites: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GitHub CLI — gh auth login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VS Code with GitHub Copilot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• Node.js 18+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One command: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azd auth login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azd up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Provisions: Container Apps, Azure OpenAI,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ACR, managed identity (Bicep)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5577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Option B: Run Locally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Requires: Java 21+, Maven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Backend: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cd backend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mvn clean package -DskipTests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java -jar target/burnout-backend-*.jar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MCP App: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cd mcp-app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  npm install &amp;&amp; npm run build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Reload VS Code — .vscode/mcp.json pre-configured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Burnout-as-a-Service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Not less work — structured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Live Demo: https://aka.ms/burnout-app</a:t>
            </a:r>
            <a:br/>
            <a:r>
              <a:t>GitHub: github.com/roryp/burnout-app</a:t>
            </a:r>
            <a:br/>
            <a:r>
              <a:t>Psychology Deep-Dive: docs/PSYCHOLOGY.md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Java 21  •  Spring Boot 3  •  LangChain4j  •  Azure OpenAI  •  MCP  •  GitHub 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1720</Words>
  <Application>Microsoft Office PowerPoint</Application>
  <PresentationFormat>Widescreen</PresentationFormat>
  <Paragraphs>394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Rory Preddy</cp:lastModifiedBy>
  <cp:revision>2</cp:revision>
  <dcterms:created xsi:type="dcterms:W3CDTF">2013-01-27T09:14:16Z</dcterms:created>
  <dcterms:modified xsi:type="dcterms:W3CDTF">2026-03-02T06:43:28Z</dcterms:modified>
  <cp:category/>
</cp:coreProperties>
</file>