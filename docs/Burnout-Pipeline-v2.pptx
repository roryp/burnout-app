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ingestion stage pulls GitHub issues into a versioned in-memory cache. There are two paths: the MCP tool syncs with a GitHub Bearer token for authenticated access, while the public demo API is rate-limited to one sync per repo every five minutes to stay within GitHub's unauthenticated limits.</a:t>
            </a:r>
          </a:p>
          <a:p/>
          <a:p>
            <a:r>
              <a:t>Each issue is stored as a Java record with nine fields — the key ones for stress analysis are labels, assignees, and the camelCase timestamps createdAt and updatedAt. Using snake_case here silently produces nulls, which is a common gotcha.</a:t>
            </a:r>
          </a:p>
          <a:p/>
          <a:p>
            <a:r>
              <a:t>For demo scenarios, synthetic demo labels like demo:touched-today override real timestamps entirely. This is the golden rule: if any demo label is present on an issue, the system never consults the actual timestamp fields. This lets us reliably reproduce stress scenarios regardless of when the demo is run.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issue is classified into exactly one of four buckets using a first-match-wins strategy. Deep work catches anything with priority:critical, security, architecture, or issues estimated over two hours. Quick wins match good-first-issue, trivial, or short tasks with clear scope. Maintenance covers dependencies, documentation, chores, and CI. Everything else falls into deferred.</a:t>
            </a:r>
          </a:p>
          <a:p/>
          <a:p>
            <a:r>
              <a:t>Hour estimates come from size labels first — size:s is half an hour, size:xl is a full day. If no size label exists, the system uses a body-length heuristic: under 100 characters is half an hour, under 500 is two hours, and longer descriptions default to four hours.</a:t>
            </a:r>
          </a:p>
          <a:p/>
          <a:p>
            <a:r>
              <a:t>The 3-3-3 day structure is the core framework: at most one deep work item, three quick wins, and three maintenance tasks — seven active issues maximum. Anything beyond that is automatically deferred to protect the developer's focus.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chaos score is a simple additive metric from zero to ten. Five boolean signals each contribute two points: three or more mystery-meat issues without descriptions, three or more unresolved urgents older than 24 hours, six or more issues touched in the last 60 minutes, any after-hours activity, and twelve or more distinct labels across all issues indicating label sprawl.</a:t>
            </a:r>
          </a:p>
          <a:p/>
          <a:p>
            <a:r>
              <a:t>Compliance starts at 100 and deducts points for eight violation types. Critical violations like having multiple deep work items or more than seven active issues cost 25 points each. Warnings like bucket overflow cost 10, and informational issues like a growing deferred backlog cost 5.</a:t>
            </a:r>
          </a:p>
          <a:p/>
          <a:p>
            <a:r>
              <a:t>After-hours detection is fully timezone-aware. The checkin page sends the browser's timezone, and the server uses it to determine if updates happened before 9 AM, after 6 PM, or on weekends. This means a developer in New York and one in Tokyo get accurate after-hours detection for their local time.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stress score is the sum of six independently calculated components, each with its own cap. Workload goes up to 40 — it penalises having more than seven assigned issues and having multiple deep work items. Chaos maps the bucket level to 0, 10, 20, or 30 points. Context switching adds three points for each issue touched beyond the first five, up to 15. Clarity adds two points per mystery-meat issue up to 10. Sustained load adds five points per consecutive high-chaos day up to 15. After-hours adds five points per issue updated outside working hours, capped at 10.</a:t>
            </a:r>
          </a:p>
          <a:p/>
          <a:p>
            <a:r>
              <a:t>The total is clamped to 100 and mapped to four stress levels: 70 and above is critical, 50 is high, 30 is moderate, and below 30 is low.</a:t>
            </a:r>
          </a:p>
          <a:p/>
          <a:p>
            <a:r>
              <a:t>All twelve input variables in the world state are individually capped — for example, total assigned issues cap at 15 and deferred at 10. This makes the scoring fully deterministic and prevents any single runaway metric from dominating.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AI layer uses LangChain4j's supervisor pattern with Azure OpenAI gpt-4o at temperature 0.3. Five specialised sub-agents each have tool methods that apply GitHub labels: the defer agent marks issues for next sprint, the delegate agent flags items for reassignment, the classify agent sorts issues into the 3-3-3 buckets, the scope agent tags unclear issues as blocked, and the wellness agent can suggest breaks, slow intake, or block calendar time.</a:t>
            </a:r>
          </a:p>
          <a:p/>
          <a:p>
            <a:r>
              <a:t>Protection kicks in automatically when the system detects sustained risk: two or more consecutive high-chaos days, any after-hours activity, a stress score of 70 or above, or more than ten assigned issues. When triggered, the protective AI service generates a supportive intervention message alongside the regular analysis.</a:t>
            </a:r>
          </a:p>
          <a:p/>
          <a:p>
            <a:r>
              <a:t>Every AI feature has a deterministic fallback path. If the LLM is unavailable — whether from dummy credentials, network issues, or expired tokens — all features continue to work with pre-computed responses. The AI explains; it never decides. All metrics are calculated deterministically first.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mutation plan is a sealed interface with three action types: add labels, remove labels, and comment. The supervisor agent's tool calls are collected into this plan, which the MCP app then executes against GitHub. Labels like deferred, quick-win, deep-work, 3-3-3, and needs-scope are applied to reshape the developer's workload into the target structure.</a:t>
            </a:r>
          </a:p>
          <a:p/>
          <a:p>
            <a:r>
              <a:t>The Friday deploy score starts at 100 and deducts points for risk factors: 20 points if chaos exceeds 5, another 20 if it exceeds 8, 15 for unresolved urgents, 15 for non-compliance, 10 for after-hours activity, and 10 for more than three mystery-meat issues. The result maps to three statuses: ready at 80 or above, caution from 50 to 79, and not ready below 50.</a:t>
            </a:r>
          </a:p>
          <a:p/>
          <a:p>
            <a:r>
              <a:t>Every stress check-in is persisted as a JPA entity with all six breakdown components, the overall score, stress level, and an optional self-reported score and note. This powers the study dashboard's trend charts, letting researchers track how individual participants' stress evolves over time across multiple check-ins.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1097280" y="502920"/>
            <a:ext cx="9997135" cy="320040"/>
          </a:xfrm>
          <a:prstGeom prst="rect">
            <a:avLst/>
          </a:prstGeom>
          <a:noFill/>
        </p:spPr>
        <p:txBody>
          <a:bodyPr wrap="square">
            <a:spAutoFit/>
          </a:bodyPr>
          <a:lstStyle/>
          <a:p>
            <a:pPr algn="ctr">
              <a:spcAft>
                <a:spcPts val="0"/>
              </a:spcAft>
              <a:defRPr sz="1400" b="1">
                <a:solidFill>
                  <a:srgbClr val="3B82F6"/>
                </a:solidFill>
                <a:latin typeface="Segoe UI"/>
              </a:defRPr>
            </a:pPr>
            <a:r>
              <a:t>STAGE 1</a:t>
            </a:r>
          </a:p>
        </p:txBody>
      </p:sp>
      <p:sp>
        <p:nvSpPr>
          <p:cNvPr id="3" name="TextBox 2"/>
          <p:cNvSpPr txBox="1"/>
          <p:nvPr/>
        </p:nvSpPr>
        <p:spPr>
          <a:xfrm>
            <a:off x="1097280" y="822960"/>
            <a:ext cx="9997135" cy="594360"/>
          </a:xfrm>
          <a:prstGeom prst="rect">
            <a:avLst/>
          </a:prstGeom>
          <a:noFill/>
        </p:spPr>
        <p:txBody>
          <a:bodyPr wrap="square">
            <a:spAutoFit/>
          </a:bodyPr>
          <a:lstStyle/>
          <a:p>
            <a:pPr algn="ctr">
              <a:spcAft>
                <a:spcPts val="0"/>
              </a:spcAft>
              <a:defRPr sz="3600" b="1">
                <a:solidFill>
                  <a:srgbClr val="F8FAFC"/>
                </a:solidFill>
                <a:latin typeface="Segoe UI"/>
              </a:defRPr>
            </a:pPr>
            <a:r>
              <a:t>Ingestion</a:t>
            </a:r>
          </a:p>
        </p:txBody>
      </p:sp>
      <p:sp>
        <p:nvSpPr>
          <p:cNvPr id="4" name="TextBox 3"/>
          <p:cNvSpPr txBox="1"/>
          <p:nvPr/>
        </p:nvSpPr>
        <p:spPr>
          <a:xfrm>
            <a:off x="1463040" y="1828800"/>
            <a:ext cx="9265615" cy="2926080"/>
          </a:xfrm>
          <a:prstGeom prst="rect">
            <a:avLst/>
          </a:prstGeom>
          <a:noFill/>
        </p:spPr>
        <p:txBody>
          <a:bodyPr wrap="square">
            <a:spAutoFit/>
          </a:bodyPr>
          <a:lstStyle/>
          <a:p>
            <a:pPr>
              <a:spcBef>
                <a:spcPts val="0"/>
              </a:spcBef>
              <a:spcAft>
                <a:spcPts val="200"/>
              </a:spcAft>
              <a:defRPr sz="2000" b="1">
                <a:solidFill>
                  <a:srgbClr val="F8FAFC"/>
                </a:solidFill>
                <a:latin typeface="Segoe UI"/>
              </a:defRPr>
            </a:pPr>
            <a:r>
              <a:t>GitHub Issues → In-Memory Cache</a:t>
            </a:r>
          </a:p>
          <a:p>
            <a:pPr>
              <a:spcAft>
                <a:spcPts val="0"/>
              </a:spcAft>
              <a:defRPr sz="1400">
                <a:solidFill>
                  <a:srgbClr val="94A3B8"/>
                </a:solidFill>
                <a:latin typeface="Segoe UI"/>
              </a:defRPr>
            </a:pPr>
            <a:r>
              <a:t>Issues synced via MCP or public API (1 per repo per 5 min)</a:t>
            </a:r>
          </a:p>
          <a:p>
            <a:pPr>
              <a:spcBef>
                <a:spcPts val="1800"/>
              </a:spcBef>
              <a:spcAft>
                <a:spcPts val="200"/>
              </a:spcAft>
              <a:defRPr sz="2000" b="1">
                <a:solidFill>
                  <a:srgbClr val="F8FAFC"/>
                </a:solidFill>
                <a:latin typeface="Segoe UI"/>
              </a:defRPr>
            </a:pPr>
            <a:r>
              <a:t>9 Fields Per Issue</a:t>
            </a:r>
          </a:p>
          <a:p>
            <a:pPr>
              <a:spcAft>
                <a:spcPts val="0"/>
              </a:spcAft>
              <a:defRPr sz="1400">
                <a:solidFill>
                  <a:srgbClr val="94A3B8"/>
                </a:solidFill>
                <a:latin typeface="Segoe UI"/>
              </a:defRPr>
            </a:pPr>
            <a:r>
              <a:t>number, title, body, labels, assignees, createdAt, updatedAt, state, milestone</a:t>
            </a:r>
          </a:p>
          <a:p>
            <a:pPr>
              <a:spcBef>
                <a:spcPts val="1800"/>
              </a:spcBef>
              <a:spcAft>
                <a:spcPts val="200"/>
              </a:spcAft>
              <a:defRPr sz="2000" b="1">
                <a:solidFill>
                  <a:srgbClr val="F8FAFC"/>
                </a:solidFill>
                <a:latin typeface="Segoe UI"/>
              </a:defRPr>
            </a:pPr>
            <a:r>
              <a:t>Demo Labels Override Timestamps</a:t>
            </a:r>
          </a:p>
          <a:p>
            <a:pPr>
              <a:spcAft>
                <a:spcPts val="0"/>
              </a:spcAft>
              <a:defRPr sz="1400">
                <a:solidFill>
                  <a:srgbClr val="94A3B8"/>
                </a:solidFill>
                <a:latin typeface="Segoe UI"/>
              </a:defRPr>
            </a:pPr>
            <a:r>
              <a:t>demo:touched-today, demo:after-hours, demo:stale-14d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1097280" y="502920"/>
            <a:ext cx="9997135" cy="320040"/>
          </a:xfrm>
          <a:prstGeom prst="rect">
            <a:avLst/>
          </a:prstGeom>
          <a:noFill/>
        </p:spPr>
        <p:txBody>
          <a:bodyPr wrap="square">
            <a:spAutoFit/>
          </a:bodyPr>
          <a:lstStyle/>
          <a:p>
            <a:pPr algn="ctr">
              <a:spcAft>
                <a:spcPts val="0"/>
              </a:spcAft>
              <a:defRPr sz="1400" b="1">
                <a:solidFill>
                  <a:srgbClr val="A78BFA"/>
                </a:solidFill>
                <a:latin typeface="Segoe UI"/>
              </a:defRPr>
            </a:pPr>
            <a:r>
              <a:t>STAGE 2</a:t>
            </a:r>
          </a:p>
        </p:txBody>
      </p:sp>
      <p:sp>
        <p:nvSpPr>
          <p:cNvPr id="3" name="TextBox 2"/>
          <p:cNvSpPr txBox="1"/>
          <p:nvPr/>
        </p:nvSpPr>
        <p:spPr>
          <a:xfrm>
            <a:off x="1097280" y="822960"/>
            <a:ext cx="9997135" cy="594360"/>
          </a:xfrm>
          <a:prstGeom prst="rect">
            <a:avLst/>
          </a:prstGeom>
          <a:noFill/>
        </p:spPr>
        <p:txBody>
          <a:bodyPr wrap="square">
            <a:spAutoFit/>
          </a:bodyPr>
          <a:lstStyle/>
          <a:p>
            <a:pPr algn="ctr">
              <a:spcAft>
                <a:spcPts val="0"/>
              </a:spcAft>
              <a:defRPr sz="3600" b="1">
                <a:solidFill>
                  <a:srgbClr val="F8FAFC"/>
                </a:solidFill>
                <a:latin typeface="Segoe UI"/>
              </a:defRPr>
            </a:pPr>
            <a:r>
              <a:t>Classification</a:t>
            </a:r>
          </a:p>
        </p:txBody>
      </p:sp>
      <p:sp>
        <p:nvSpPr>
          <p:cNvPr id="4" name="TextBox 3"/>
          <p:cNvSpPr txBox="1"/>
          <p:nvPr/>
        </p:nvSpPr>
        <p:spPr>
          <a:xfrm>
            <a:off x="1463040" y="1828800"/>
            <a:ext cx="9265615" cy="2926080"/>
          </a:xfrm>
          <a:prstGeom prst="rect">
            <a:avLst/>
          </a:prstGeom>
          <a:noFill/>
        </p:spPr>
        <p:txBody>
          <a:bodyPr wrap="square">
            <a:spAutoFit/>
          </a:bodyPr>
          <a:lstStyle/>
          <a:p>
            <a:pPr>
              <a:spcBef>
                <a:spcPts val="0"/>
              </a:spcBef>
              <a:spcAft>
                <a:spcPts val="200"/>
              </a:spcAft>
              <a:defRPr sz="2000" b="1">
                <a:solidFill>
                  <a:srgbClr val="F8FAFC"/>
                </a:solidFill>
                <a:latin typeface="Segoe UI"/>
              </a:defRPr>
            </a:pPr>
            <a:r>
              <a:t>4 Buckets — First Match Wins</a:t>
            </a:r>
          </a:p>
          <a:p>
            <a:pPr>
              <a:spcAft>
                <a:spcPts val="0"/>
              </a:spcAft>
              <a:defRPr sz="1400">
                <a:solidFill>
                  <a:srgbClr val="94A3B8"/>
                </a:solidFill>
                <a:latin typeface="Segoe UI"/>
              </a:defRPr>
            </a:pPr>
            <a:r>
              <a:t>DEEP_WORK → QUICK_WIN → MAINTENANCE → DEFERRED</a:t>
            </a:r>
          </a:p>
          <a:p>
            <a:pPr>
              <a:spcBef>
                <a:spcPts val="1800"/>
              </a:spcBef>
              <a:spcAft>
                <a:spcPts val="200"/>
              </a:spcAft>
              <a:defRPr sz="2000" b="1">
                <a:solidFill>
                  <a:srgbClr val="F8FAFC"/>
                </a:solidFill>
                <a:latin typeface="Segoe UI"/>
              </a:defRPr>
            </a:pPr>
            <a:r>
              <a:t>Hour Estimation from Labels &amp; Body</a:t>
            </a:r>
          </a:p>
          <a:p>
            <a:pPr>
              <a:spcAft>
                <a:spcPts val="0"/>
              </a:spcAft>
              <a:defRPr sz="1400">
                <a:solidFill>
                  <a:srgbClr val="94A3B8"/>
                </a:solidFill>
                <a:latin typeface="Segoe UI"/>
              </a:defRPr>
            </a:pPr>
            <a:r>
              <a:t>size:s → 0.5h, size:m → 2h, size:l → 4h, size:xl → 8h</a:t>
            </a:r>
          </a:p>
          <a:p>
            <a:pPr>
              <a:spcBef>
                <a:spcPts val="1800"/>
              </a:spcBef>
              <a:spcAft>
                <a:spcPts val="200"/>
              </a:spcAft>
              <a:defRPr sz="2000" b="1">
                <a:solidFill>
                  <a:srgbClr val="F8FAFC"/>
                </a:solidFill>
                <a:latin typeface="Segoe UI"/>
              </a:defRPr>
            </a:pPr>
            <a:r>
              <a:t>3-3-3 Day Structure</a:t>
            </a:r>
          </a:p>
          <a:p>
            <a:pPr>
              <a:spcAft>
                <a:spcPts val="0"/>
              </a:spcAft>
              <a:defRPr sz="1400">
                <a:solidFill>
                  <a:srgbClr val="94A3B8"/>
                </a:solidFill>
                <a:latin typeface="Segoe UI"/>
              </a:defRPr>
            </a:pPr>
            <a:r>
              <a:t>1 deep work + 3 quick wins + 3 maintenance = 7 active max</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1097280" y="502920"/>
            <a:ext cx="9997135" cy="320040"/>
          </a:xfrm>
          <a:prstGeom prst="rect">
            <a:avLst/>
          </a:prstGeom>
          <a:noFill/>
        </p:spPr>
        <p:txBody>
          <a:bodyPr wrap="square">
            <a:spAutoFit/>
          </a:bodyPr>
          <a:lstStyle/>
          <a:p>
            <a:pPr algn="ctr">
              <a:spcAft>
                <a:spcPts val="0"/>
              </a:spcAft>
              <a:defRPr sz="1400" b="1">
                <a:solidFill>
                  <a:srgbClr val="F59E0B"/>
                </a:solidFill>
                <a:latin typeface="Segoe UI"/>
              </a:defRPr>
            </a:pPr>
            <a:r>
              <a:t>STAGE 3</a:t>
            </a:r>
          </a:p>
        </p:txBody>
      </p:sp>
      <p:sp>
        <p:nvSpPr>
          <p:cNvPr id="3" name="TextBox 2"/>
          <p:cNvSpPr txBox="1"/>
          <p:nvPr/>
        </p:nvSpPr>
        <p:spPr>
          <a:xfrm>
            <a:off x="1097280" y="822960"/>
            <a:ext cx="9997135" cy="594360"/>
          </a:xfrm>
          <a:prstGeom prst="rect">
            <a:avLst/>
          </a:prstGeom>
          <a:noFill/>
        </p:spPr>
        <p:txBody>
          <a:bodyPr wrap="square">
            <a:spAutoFit/>
          </a:bodyPr>
          <a:lstStyle/>
          <a:p>
            <a:pPr algn="ctr">
              <a:spcAft>
                <a:spcPts val="0"/>
              </a:spcAft>
              <a:defRPr sz="3600" b="1">
                <a:solidFill>
                  <a:srgbClr val="F8FAFC"/>
                </a:solidFill>
                <a:latin typeface="Segoe UI"/>
              </a:defRPr>
            </a:pPr>
            <a:r>
              <a:t>Metrics &amp; Compliance</a:t>
            </a:r>
          </a:p>
        </p:txBody>
      </p:sp>
      <p:sp>
        <p:nvSpPr>
          <p:cNvPr id="4" name="TextBox 3"/>
          <p:cNvSpPr txBox="1"/>
          <p:nvPr/>
        </p:nvSpPr>
        <p:spPr>
          <a:xfrm>
            <a:off x="1463040" y="1828800"/>
            <a:ext cx="9265615" cy="2926080"/>
          </a:xfrm>
          <a:prstGeom prst="rect">
            <a:avLst/>
          </a:prstGeom>
          <a:noFill/>
        </p:spPr>
        <p:txBody>
          <a:bodyPr wrap="square">
            <a:spAutoFit/>
          </a:bodyPr>
          <a:lstStyle/>
          <a:p>
            <a:pPr>
              <a:spcBef>
                <a:spcPts val="0"/>
              </a:spcBef>
              <a:spcAft>
                <a:spcPts val="200"/>
              </a:spcAft>
              <a:defRPr sz="2000" b="1">
                <a:solidFill>
                  <a:srgbClr val="F8FAFC"/>
                </a:solidFill>
                <a:latin typeface="Segoe UI"/>
              </a:defRPr>
            </a:pPr>
            <a:r>
              <a:t>Chaos Score 0–10 (5 signals × 2 pts)</a:t>
            </a:r>
          </a:p>
          <a:p>
            <a:pPr>
              <a:spcAft>
                <a:spcPts val="0"/>
              </a:spcAft>
              <a:defRPr sz="1400">
                <a:solidFill>
                  <a:srgbClr val="94A3B8"/>
                </a:solidFill>
                <a:latin typeface="Segoe UI"/>
              </a:defRPr>
            </a:pPr>
            <a:r>
              <a:t>mystery meat, urgent, context switching, after-hours, label sprawl</a:t>
            </a:r>
          </a:p>
          <a:p>
            <a:pPr>
              <a:spcBef>
                <a:spcPts val="1800"/>
              </a:spcBef>
              <a:spcAft>
                <a:spcPts val="200"/>
              </a:spcAft>
              <a:defRPr sz="2000" b="1">
                <a:solidFill>
                  <a:srgbClr val="F8FAFC"/>
                </a:solidFill>
                <a:latin typeface="Segoe UI"/>
              </a:defRPr>
            </a:pPr>
            <a:r>
              <a:t>Compliance Score 100 → 0 (8 violations)</a:t>
            </a:r>
          </a:p>
          <a:p>
            <a:pPr>
              <a:spcAft>
                <a:spcPts val="0"/>
              </a:spcAft>
              <a:defRPr sz="1400">
                <a:solidFill>
                  <a:srgbClr val="94A3B8"/>
                </a:solidFill>
                <a:latin typeface="Segoe UI"/>
              </a:defRPr>
            </a:pPr>
            <a:r>
              <a:t>CRITICAL −25 · WARNING −10 · INFO −5</a:t>
            </a:r>
          </a:p>
          <a:p>
            <a:pPr>
              <a:spcBef>
                <a:spcPts val="1800"/>
              </a:spcBef>
              <a:spcAft>
                <a:spcPts val="200"/>
              </a:spcAft>
              <a:defRPr sz="2000" b="1">
                <a:solidFill>
                  <a:srgbClr val="F8FAFC"/>
                </a:solidFill>
                <a:latin typeface="Segoe UI"/>
              </a:defRPr>
            </a:pPr>
            <a:r>
              <a:t>Timezone-Aware After-Hours Detection</a:t>
            </a:r>
          </a:p>
          <a:p>
            <a:pPr>
              <a:spcAft>
                <a:spcPts val="0"/>
              </a:spcAft>
              <a:defRPr sz="1400">
                <a:solidFill>
                  <a:srgbClr val="94A3B8"/>
                </a:solidFill>
                <a:latin typeface="Segoe UI"/>
              </a:defRPr>
            </a:pPr>
            <a:r>
              <a:t>Working hours: 9 AM – 6 PM; weekends always count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1097280" y="502920"/>
            <a:ext cx="9997135" cy="320040"/>
          </a:xfrm>
          <a:prstGeom prst="rect">
            <a:avLst/>
          </a:prstGeom>
          <a:noFill/>
        </p:spPr>
        <p:txBody>
          <a:bodyPr wrap="square">
            <a:spAutoFit/>
          </a:bodyPr>
          <a:lstStyle/>
          <a:p>
            <a:pPr algn="ctr">
              <a:spcAft>
                <a:spcPts val="0"/>
              </a:spcAft>
              <a:defRPr sz="1400" b="1">
                <a:solidFill>
                  <a:srgbClr val="2DD4BF"/>
                </a:solidFill>
                <a:latin typeface="Segoe UI"/>
              </a:defRPr>
            </a:pPr>
            <a:r>
              <a:t>STAGE 4</a:t>
            </a:r>
          </a:p>
        </p:txBody>
      </p:sp>
      <p:sp>
        <p:nvSpPr>
          <p:cNvPr id="3" name="TextBox 2"/>
          <p:cNvSpPr txBox="1"/>
          <p:nvPr/>
        </p:nvSpPr>
        <p:spPr>
          <a:xfrm>
            <a:off x="1097280" y="822960"/>
            <a:ext cx="9997135" cy="594360"/>
          </a:xfrm>
          <a:prstGeom prst="rect">
            <a:avLst/>
          </a:prstGeom>
          <a:noFill/>
        </p:spPr>
        <p:txBody>
          <a:bodyPr wrap="square">
            <a:spAutoFit/>
          </a:bodyPr>
          <a:lstStyle/>
          <a:p>
            <a:pPr algn="ctr">
              <a:spcAft>
                <a:spcPts val="0"/>
              </a:spcAft>
              <a:defRPr sz="3600" b="1">
                <a:solidFill>
                  <a:srgbClr val="F8FAFC"/>
                </a:solidFill>
                <a:latin typeface="Segoe UI"/>
              </a:defRPr>
            </a:pPr>
            <a:r>
              <a:t>Stress Score (0–100)</a:t>
            </a:r>
          </a:p>
        </p:txBody>
      </p:sp>
      <p:sp>
        <p:nvSpPr>
          <p:cNvPr id="4" name="TextBox 3"/>
          <p:cNvSpPr txBox="1"/>
          <p:nvPr/>
        </p:nvSpPr>
        <p:spPr>
          <a:xfrm>
            <a:off x="1463040" y="1828800"/>
            <a:ext cx="9265615" cy="2926080"/>
          </a:xfrm>
          <a:prstGeom prst="rect">
            <a:avLst/>
          </a:prstGeom>
          <a:noFill/>
        </p:spPr>
        <p:txBody>
          <a:bodyPr wrap="square">
            <a:spAutoFit/>
          </a:bodyPr>
          <a:lstStyle/>
          <a:p>
            <a:pPr>
              <a:spcBef>
                <a:spcPts val="0"/>
              </a:spcBef>
              <a:spcAft>
                <a:spcPts val="200"/>
              </a:spcAft>
              <a:defRPr sz="2000" b="1">
                <a:solidFill>
                  <a:srgbClr val="F8FAFC"/>
                </a:solidFill>
                <a:latin typeface="Segoe UI"/>
              </a:defRPr>
            </a:pPr>
            <a:r>
              <a:t>6-Component Breakdown</a:t>
            </a:r>
          </a:p>
          <a:p>
            <a:pPr>
              <a:spcAft>
                <a:spcPts val="0"/>
              </a:spcAft>
              <a:defRPr sz="1400">
                <a:solidFill>
                  <a:srgbClr val="94A3B8"/>
                </a:solidFill>
                <a:latin typeface="Segoe UI"/>
              </a:defRPr>
            </a:pPr>
            <a:r>
              <a:t>Workload · Chaos · Context Switching · Clarity · Sustained · After Hours</a:t>
            </a:r>
          </a:p>
          <a:p>
            <a:pPr>
              <a:spcBef>
                <a:spcPts val="1800"/>
              </a:spcBef>
              <a:spcAft>
                <a:spcPts val="200"/>
              </a:spcAft>
              <a:defRPr sz="2000" b="1">
                <a:solidFill>
                  <a:srgbClr val="F8FAFC"/>
                </a:solidFill>
                <a:latin typeface="Segoe UI"/>
              </a:defRPr>
            </a:pPr>
            <a:r>
              <a:t>4 Stress Levels</a:t>
            </a:r>
          </a:p>
          <a:p>
            <a:pPr>
              <a:spcAft>
                <a:spcPts val="0"/>
              </a:spcAft>
              <a:defRPr sz="1400">
                <a:solidFill>
                  <a:srgbClr val="94A3B8"/>
                </a:solidFill>
                <a:latin typeface="Segoe UI"/>
              </a:defRPr>
            </a:pPr>
            <a:r>
              <a:t>≥ 70 CRITICAL · ≥ 50 HIGH · ≥ 30 MODERATE · &lt; 30 LOW</a:t>
            </a:r>
          </a:p>
          <a:p>
            <a:pPr>
              <a:spcBef>
                <a:spcPts val="1800"/>
              </a:spcBef>
              <a:spcAft>
                <a:spcPts val="200"/>
              </a:spcAft>
              <a:defRPr sz="2000" b="1">
                <a:solidFill>
                  <a:srgbClr val="F8FAFC"/>
                </a:solidFill>
                <a:latin typeface="Segoe UI"/>
              </a:defRPr>
            </a:pPr>
            <a:r>
              <a:t>12 Capped World State Variables</a:t>
            </a:r>
          </a:p>
          <a:p>
            <a:pPr>
              <a:spcAft>
                <a:spcPts val="0"/>
              </a:spcAft>
              <a:defRPr sz="1400">
                <a:solidFill>
                  <a:srgbClr val="94A3B8"/>
                </a:solidFill>
                <a:latin typeface="Segoe UI"/>
              </a:defRPr>
            </a:pPr>
            <a:r>
              <a:t>All inputs capped to prevent overflow and keep scores deterministic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1097280" y="502920"/>
            <a:ext cx="9997135" cy="320040"/>
          </a:xfrm>
          <a:prstGeom prst="rect">
            <a:avLst/>
          </a:prstGeom>
          <a:noFill/>
        </p:spPr>
        <p:txBody>
          <a:bodyPr wrap="square">
            <a:spAutoFit/>
          </a:bodyPr>
          <a:lstStyle/>
          <a:p>
            <a:pPr algn="ctr">
              <a:spcAft>
                <a:spcPts val="0"/>
              </a:spcAft>
              <a:defRPr sz="1400" b="1">
                <a:solidFill>
                  <a:srgbClr val="FB7185"/>
                </a:solidFill>
                <a:latin typeface="Segoe UI"/>
              </a:defRPr>
            </a:pPr>
            <a:r>
              <a:t>STAGE 5</a:t>
            </a:r>
          </a:p>
        </p:txBody>
      </p:sp>
      <p:sp>
        <p:nvSpPr>
          <p:cNvPr id="3" name="TextBox 2"/>
          <p:cNvSpPr txBox="1"/>
          <p:nvPr/>
        </p:nvSpPr>
        <p:spPr>
          <a:xfrm>
            <a:off x="1097280" y="822960"/>
            <a:ext cx="9997135" cy="594360"/>
          </a:xfrm>
          <a:prstGeom prst="rect">
            <a:avLst/>
          </a:prstGeom>
          <a:noFill/>
        </p:spPr>
        <p:txBody>
          <a:bodyPr wrap="square">
            <a:spAutoFit/>
          </a:bodyPr>
          <a:lstStyle/>
          <a:p>
            <a:pPr algn="ctr">
              <a:spcAft>
                <a:spcPts val="0"/>
              </a:spcAft>
              <a:defRPr sz="3600" b="1">
                <a:solidFill>
                  <a:srgbClr val="F8FAFC"/>
                </a:solidFill>
                <a:latin typeface="Segoe UI"/>
              </a:defRPr>
            </a:pPr>
            <a:r>
              <a:t>AI Agents</a:t>
            </a:r>
          </a:p>
        </p:txBody>
      </p:sp>
      <p:sp>
        <p:nvSpPr>
          <p:cNvPr id="4" name="TextBox 3"/>
          <p:cNvSpPr txBox="1"/>
          <p:nvPr/>
        </p:nvSpPr>
        <p:spPr>
          <a:xfrm>
            <a:off x="1463040" y="1828800"/>
            <a:ext cx="9265615" cy="2926080"/>
          </a:xfrm>
          <a:prstGeom prst="rect">
            <a:avLst/>
          </a:prstGeom>
          <a:noFill/>
        </p:spPr>
        <p:txBody>
          <a:bodyPr wrap="square">
            <a:spAutoFit/>
          </a:bodyPr>
          <a:lstStyle/>
          <a:p>
            <a:pPr>
              <a:spcBef>
                <a:spcPts val="0"/>
              </a:spcBef>
              <a:spcAft>
                <a:spcPts val="200"/>
              </a:spcAft>
              <a:defRPr sz="2000" b="1">
                <a:solidFill>
                  <a:srgbClr val="F8FAFC"/>
                </a:solidFill>
                <a:latin typeface="Segoe UI"/>
              </a:defRPr>
            </a:pPr>
            <a:r>
              <a:t>LangChain4j Supervisor — 5 Sub-Agents</a:t>
            </a:r>
          </a:p>
          <a:p>
            <a:pPr>
              <a:spcAft>
                <a:spcPts val="0"/>
              </a:spcAft>
              <a:defRPr sz="1400">
                <a:solidFill>
                  <a:srgbClr val="94A3B8"/>
                </a:solidFill>
                <a:latin typeface="Segoe UI"/>
              </a:defRPr>
            </a:pPr>
            <a:r>
              <a:t>Defer · Delegate · Classify · Scope · Wellness</a:t>
            </a:r>
          </a:p>
          <a:p>
            <a:pPr>
              <a:spcBef>
                <a:spcPts val="1800"/>
              </a:spcBef>
              <a:spcAft>
                <a:spcPts val="200"/>
              </a:spcAft>
              <a:defRPr sz="2000" b="1">
                <a:solidFill>
                  <a:srgbClr val="F8FAFC"/>
                </a:solidFill>
                <a:latin typeface="Segoe UI"/>
              </a:defRPr>
            </a:pPr>
            <a:r>
              <a:t>Protection Triggers Automatically</a:t>
            </a:r>
          </a:p>
          <a:p>
            <a:pPr>
              <a:spcAft>
                <a:spcPts val="0"/>
              </a:spcAft>
              <a:defRPr sz="1400">
                <a:solidFill>
                  <a:srgbClr val="94A3B8"/>
                </a:solidFill>
                <a:latin typeface="Segoe UI"/>
              </a:defRPr>
            </a:pPr>
            <a:r>
              <a:t>2+ high-chaos days, after-hours, stress ≥ 70, or 10+ issues</a:t>
            </a:r>
          </a:p>
          <a:p>
            <a:pPr>
              <a:spcBef>
                <a:spcPts val="1800"/>
              </a:spcBef>
              <a:spcAft>
                <a:spcPts val="200"/>
              </a:spcAft>
              <a:defRPr sz="2000" b="1">
                <a:solidFill>
                  <a:srgbClr val="F8FAFC"/>
                </a:solidFill>
                <a:latin typeface="Segoe UI"/>
              </a:defRPr>
            </a:pPr>
            <a:r>
              <a:t>Deterministic Fallback — Always Works</a:t>
            </a:r>
          </a:p>
          <a:p>
            <a:pPr>
              <a:spcAft>
                <a:spcPts val="0"/>
              </a:spcAft>
              <a:defRPr sz="1400">
                <a:solidFill>
                  <a:srgbClr val="94A3B8"/>
                </a:solidFill>
                <a:latin typeface="Segoe UI"/>
              </a:defRPr>
            </a:pPr>
            <a:r>
              <a:t>Every agent has a fallback when the LLM is unavailable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1097280" y="502920"/>
            <a:ext cx="9997135" cy="320040"/>
          </a:xfrm>
          <a:prstGeom prst="rect">
            <a:avLst/>
          </a:prstGeom>
          <a:noFill/>
        </p:spPr>
        <p:txBody>
          <a:bodyPr wrap="square">
            <a:spAutoFit/>
          </a:bodyPr>
          <a:lstStyle/>
          <a:p>
            <a:pPr algn="ctr">
              <a:spcAft>
                <a:spcPts val="0"/>
              </a:spcAft>
              <a:defRPr sz="1400" b="1">
                <a:solidFill>
                  <a:srgbClr val="818CF8"/>
                </a:solidFill>
                <a:latin typeface="Segoe UI"/>
              </a:defRPr>
            </a:pPr>
            <a:r>
              <a:t>STAGE 6</a:t>
            </a:r>
          </a:p>
        </p:txBody>
      </p:sp>
      <p:sp>
        <p:nvSpPr>
          <p:cNvPr id="3" name="TextBox 2"/>
          <p:cNvSpPr txBox="1"/>
          <p:nvPr/>
        </p:nvSpPr>
        <p:spPr>
          <a:xfrm>
            <a:off x="1097280" y="822960"/>
            <a:ext cx="9997135" cy="594360"/>
          </a:xfrm>
          <a:prstGeom prst="rect">
            <a:avLst/>
          </a:prstGeom>
          <a:noFill/>
        </p:spPr>
        <p:txBody>
          <a:bodyPr wrap="square">
            <a:spAutoFit/>
          </a:bodyPr>
          <a:lstStyle/>
          <a:p>
            <a:pPr algn="ctr">
              <a:spcAft>
                <a:spcPts val="0"/>
              </a:spcAft>
              <a:defRPr sz="3600" b="1">
                <a:solidFill>
                  <a:srgbClr val="F8FAFC"/>
                </a:solidFill>
                <a:latin typeface="Segoe UI"/>
              </a:defRPr>
            </a:pPr>
            <a:r>
              <a:t>Output &amp; Persistence</a:t>
            </a:r>
          </a:p>
        </p:txBody>
      </p:sp>
      <p:sp>
        <p:nvSpPr>
          <p:cNvPr id="4" name="TextBox 3"/>
          <p:cNvSpPr txBox="1"/>
          <p:nvPr/>
        </p:nvSpPr>
        <p:spPr>
          <a:xfrm>
            <a:off x="1463040" y="1828800"/>
            <a:ext cx="9265615" cy="2926080"/>
          </a:xfrm>
          <a:prstGeom prst="rect">
            <a:avLst/>
          </a:prstGeom>
          <a:noFill/>
        </p:spPr>
        <p:txBody>
          <a:bodyPr wrap="square">
            <a:spAutoFit/>
          </a:bodyPr>
          <a:lstStyle/>
          <a:p>
            <a:pPr>
              <a:spcBef>
                <a:spcPts val="0"/>
              </a:spcBef>
              <a:spcAft>
                <a:spcPts val="200"/>
              </a:spcAft>
              <a:defRPr sz="2000" b="1">
                <a:solidFill>
                  <a:srgbClr val="F8FAFC"/>
                </a:solidFill>
                <a:latin typeface="Segoe UI"/>
              </a:defRPr>
            </a:pPr>
            <a:r>
              <a:t>GitHub Mutation Plan</a:t>
            </a:r>
          </a:p>
          <a:p>
            <a:pPr>
              <a:spcAft>
                <a:spcPts val="0"/>
              </a:spcAft>
              <a:defRPr sz="1400">
                <a:solidFill>
                  <a:srgbClr val="94A3B8"/>
                </a:solidFill>
                <a:latin typeface="Segoe UI"/>
              </a:defRPr>
            </a:pPr>
            <a:r>
              <a:t>Labels and comments applied to reshape your day into 3-3-3</a:t>
            </a:r>
          </a:p>
          <a:p>
            <a:pPr>
              <a:spcBef>
                <a:spcPts val="1800"/>
              </a:spcBef>
              <a:spcAft>
                <a:spcPts val="200"/>
              </a:spcAft>
              <a:defRPr sz="2000" b="1">
                <a:solidFill>
                  <a:srgbClr val="F8FAFC"/>
                </a:solidFill>
                <a:latin typeface="Segoe UI"/>
              </a:defRPr>
            </a:pPr>
            <a:r>
              <a:t>Friday Deploy Score (0–100)</a:t>
            </a:r>
          </a:p>
          <a:p>
            <a:pPr>
              <a:spcAft>
                <a:spcPts val="0"/>
              </a:spcAft>
              <a:defRPr sz="1400">
                <a:solidFill>
                  <a:srgbClr val="94A3B8"/>
                </a:solidFill>
                <a:latin typeface="Segoe UI"/>
              </a:defRPr>
            </a:pPr>
            <a:r>
              <a:t>READY ≥ 80 · CAUTION ≥ 50 · NOT_READY &lt; 50</a:t>
            </a:r>
          </a:p>
          <a:p>
            <a:pPr>
              <a:spcBef>
                <a:spcPts val="1800"/>
              </a:spcBef>
              <a:spcAft>
                <a:spcPts val="200"/>
              </a:spcAft>
              <a:defRPr sz="2000" b="1">
                <a:solidFill>
                  <a:srgbClr val="F8FAFC"/>
                </a:solidFill>
                <a:latin typeface="Segoe UI"/>
              </a:defRPr>
            </a:pPr>
            <a:r>
              <a:t>Stress Snapshots Persisted (JPA)</a:t>
            </a:r>
          </a:p>
          <a:p>
            <a:pPr>
              <a:spcAft>
                <a:spcPts val="0"/>
              </a:spcAft>
              <a:defRPr sz="1400">
                <a:solidFill>
                  <a:srgbClr val="94A3B8"/>
                </a:solidFill>
                <a:latin typeface="Segoe UI"/>
              </a:defRPr>
            </a:pPr>
            <a:r>
              <a:t>All 6 breakdown components + self-report saved for trend analysis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