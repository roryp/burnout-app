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Segoe UI"/>
              </a:defRPr>
            </a:pPr>
            <a:r>
              <a:t>Theoretical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BCCDD"/>
                </a:solidFill>
                <a:latin typeface="Segoe UI"/>
              </a:defRPr>
            </a:pPr>
            <a:r>
              <a:t>6 psychological frameworks powering Burnout-as-a-Service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3200400" cy="20116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FFFFFF"/>
                </a:solidFill>
                <a:latin typeface="Segoe UI"/>
              </a:defRPr>
            </a:pPr>
            <a:r>
              <a:t>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Maslach Burnout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118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ABBCC"/>
                </a:solidFill>
                <a:latin typeface="Segoe UI"/>
              </a:defRPr>
            </a:pPr>
            <a:r>
              <a:t>3 dimensions: exhaustion, depersonalization, reduced accomplishment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560320"/>
            <a:ext cx="3200400" cy="20116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FFFFFF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Cognitive Load Theory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6118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ABBCC"/>
                </a:solidFill>
                <a:latin typeface="Segoe UI"/>
              </a:defRPr>
            </a:pPr>
            <a:r>
              <a:t>Working memory is limited; extraneous load must be minimized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560320"/>
            <a:ext cx="3200400" cy="20116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154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Yerkes-Dodson Law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6118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ABBCC"/>
                </a:solidFill>
                <a:latin typeface="Segoe UI"/>
              </a:defRPr>
            </a:pPr>
            <a:r>
              <a:t>Performance peaks at moderate stress, drops at extremes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37760"/>
            <a:ext cx="3200400" cy="20116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FFFFFF"/>
                </a:solidFill>
                <a:latin typeface="Segoe UI"/>
              </a:defRPr>
            </a:pPr>
            <a:r>
              <a:t>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532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Deep Work (Cal Newport)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989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ABBCC"/>
                </a:solidFill>
                <a:latin typeface="Segoe UI"/>
              </a:defRPr>
            </a:pPr>
            <a:r>
              <a:t>Sustained focused work requires 90+ min uninterrupted blocks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937760"/>
            <a:ext cx="3200400" cy="20116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5074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FFFFFF"/>
                </a:solidFill>
                <a:latin typeface="Segoe UI"/>
              </a:defRPr>
            </a:pPr>
            <a:r>
              <a:t>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532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Pomodoro / Time Boxing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5989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ABBCC"/>
                </a:solidFill>
                <a:latin typeface="Segoe UI"/>
              </a:defRPr>
            </a:pPr>
            <a:r>
              <a:t>Short focused intervals with breaks maintain energy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937760"/>
            <a:ext cx="3200400" cy="20116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5074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FFFFFF"/>
                </a:solidFill>
                <a:latin typeface="Segoe UI"/>
              </a:defRPr>
            </a:pPr>
            <a:r>
              <a:t>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532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Segoe UI"/>
              </a:defRPr>
            </a:pPr>
            <a:r>
              <a:t>Plutchik Wheel of Emotions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989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ABBCC"/>
                </a:solidFill>
                <a:latin typeface="Segoe UI"/>
              </a:defRPr>
            </a:pPr>
            <a:r>
              <a:t>8 primary emotions with behavioral signatures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0" i="0">
                <a:solidFill>
                  <a:srgbClr val="FFFFFF"/>
                </a:solidFill>
                <a:latin typeface="Segoe UI"/>
              </a:defRPr>
            </a:pPr>
            <a:r>
              <a:t>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Segoe UI"/>
              </a:defRPr>
            </a:pPr>
            <a:r>
              <a:t>Maslach Burnout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AACCDD"/>
                </a:solidFill>
                <a:latin typeface="Segoe UI"/>
              </a:defRPr>
            </a:pPr>
            <a:r>
              <a:t>Foundation 1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C0392B"/>
                </a:solidFill>
                <a:latin typeface="Segoe UI"/>
              </a:defRPr>
            </a:pPr>
            <a:r>
              <a:t>Key Concept: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3 dimensions: exhaustion, depersonalization, reduced accomplishment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C0392B"/>
                </a:solidFill>
                <a:latin typeface="Segoe UI"/>
              </a:defRPr>
            </a:pPr>
            <a:r>
              <a:t>Application: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After-hours signals exhaustion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Mystery meat signals depersonalization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No deep work signals reduced accomplishment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0" i="0">
                <a:solidFill>
                  <a:srgbClr val="FFFFFF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Segoe UI"/>
              </a:defRPr>
            </a:pPr>
            <a:r>
              <a:t>Cognitive Load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AACCDD"/>
                </a:solidFill>
                <a:latin typeface="Segoe UI"/>
              </a:defRPr>
            </a:pPr>
            <a:r>
              <a:t>Foundation 2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C0392B"/>
                </a:solidFill>
                <a:latin typeface="Segoe UI"/>
              </a:defRPr>
            </a:pPr>
            <a:r>
              <a:t>Key Concept: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Working memory is limited; extraneous load must be minimized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C0392B"/>
                </a:solidFill>
                <a:latin typeface="Segoe UI"/>
              </a:defRPr>
            </a:pPr>
            <a:r>
              <a:t>Application: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3-3-3 cap at 7 items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Classification removes ambiguity load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Mystery meat penalty reduces unclear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0" i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Segoe UI"/>
              </a:defRPr>
            </a:pPr>
            <a:r>
              <a:t>Yerkes-Dodson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AACCDD"/>
                </a:solidFill>
                <a:latin typeface="Segoe UI"/>
              </a:defRPr>
            </a:pPr>
            <a:r>
              <a:t>Foundation 3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C0392B"/>
                </a:solidFill>
                <a:latin typeface="Segoe UI"/>
              </a:defRPr>
            </a:pPr>
            <a:r>
              <a:t>Key Concept: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Performance peaks at moderate stress, drops at extremes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C0392B"/>
                </a:solidFill>
                <a:latin typeface="Segoe UI"/>
              </a:defRPr>
            </a:pPr>
            <a:r>
              <a:t>Application: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Stress score targets 30–50 (MODERATE) as optimal zone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Too little stress signals disengagement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Too much stress triggers burnout trajectory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0" i="0">
                <a:solidFill>
                  <a:srgbClr val="FFFFFF"/>
                </a:solidFill>
                <a:latin typeface="Segoe UI"/>
              </a:defRPr>
            </a:pPr>
            <a:r>
              <a:t>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Segoe UI"/>
              </a:defRPr>
            </a:pPr>
            <a:r>
              <a:t>Deep Work (Cal Newport)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AACCDD"/>
                </a:solidFill>
                <a:latin typeface="Segoe UI"/>
              </a:defRPr>
            </a:pPr>
            <a:r>
              <a:t>Foundation 4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C0392B"/>
                </a:solidFill>
                <a:latin typeface="Segoe UI"/>
              </a:defRPr>
            </a:pPr>
            <a:r>
              <a:t>Key Concept: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Sustained focused work requires 90+ min uninterrupted blocks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C0392B"/>
                </a:solidFill>
                <a:latin typeface="Segoe UI"/>
              </a:defRPr>
            </a:pPr>
            <a:r>
              <a:t>Application: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Calendar fragmentation check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Exactly 1 deep work item per day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Each context switch costs 23 min to resume focus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0" i="0">
                <a:solidFill>
                  <a:srgbClr val="FFFFFF"/>
                </a:solidFill>
                <a:latin typeface="Segoe UI"/>
              </a:defRPr>
            </a:pPr>
            <a:r>
              <a:t>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Segoe UI"/>
              </a:defRPr>
            </a:pPr>
            <a:r>
              <a:t>Pomodoro / Time Boxing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AACCDD"/>
                </a:solidFill>
                <a:latin typeface="Segoe UI"/>
              </a:defRPr>
            </a:pPr>
            <a:r>
              <a:t>Foundation 5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C0392B"/>
                </a:solidFill>
                <a:latin typeface="Segoe UI"/>
              </a:defRPr>
            </a:pPr>
            <a:r>
              <a:t>Key Concept: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Short focused intervals with breaks maintain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C0392B"/>
                </a:solidFill>
                <a:latin typeface="Segoe UI"/>
              </a:defRPr>
            </a:pPr>
            <a:r>
              <a:t>Application: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Quick wins as natural break-points between deep work sessions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Completion of small tasks provides dopamine momentum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Alternating cognitive modes prevents single-channel fatigue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0" i="0">
                <a:solidFill>
                  <a:srgbClr val="FFFFFF"/>
                </a:solidFill>
                <a:latin typeface="Segoe UI"/>
              </a:defRPr>
            </a:pPr>
            <a:r>
              <a:t>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Segoe UI"/>
              </a:defRPr>
            </a:pPr>
            <a:r>
              <a:t>Plutchik Wheel of Emotions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AACCDD"/>
                </a:solidFill>
                <a:latin typeface="Segoe UI"/>
              </a:defRPr>
            </a:pPr>
            <a:r>
              <a:t>Foundation 6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C0392B"/>
                </a:solidFill>
                <a:latin typeface="Segoe UI"/>
              </a:defRPr>
            </a:pPr>
            <a:r>
              <a:t>Key Concept: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8 primary emotions with behavioral signatures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C0392B"/>
                </a:solidFill>
                <a:latin typeface="Segoe UI"/>
              </a:defRPr>
            </a:pPr>
            <a:r>
              <a:t>Application: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4 emotions detected from GitHub signals: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Segoe UI"/>
              </a:defRPr>
              <a:buChar char="•"/>
            </a:pPr>
            <a:r>
              <a:t>Frustration • Exhaustion • Overwhelm • Anxiety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