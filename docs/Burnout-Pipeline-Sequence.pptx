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shows the six-stage deterministic pipeline in execution order.</a:t>
            </a:r>
          </a:p>
          <a:p/>
          <a:p>
            <a:r>
              <a:t>Stage 1 — Ingestion: GitHub issues are pulled into a versioned in-memory cache via authenticated MCP sync, the rate-limited public API, or the seed endpoint.</a:t>
            </a:r>
          </a:p>
          <a:p/>
          <a:p>
            <a:r>
              <a:t>Stage 2 — Chaos Metrics: Five boolean signals are evaluated first — mystery meat, unresolved urgents, context switching, after-hours activity, and label sprawl — producing a chaos score from 0 to 10. This runs BEFORE classification.</a:t>
            </a:r>
          </a:p>
          <a:p/>
          <a:p>
            <a:r>
              <a:t>Stage 3 — Classification &amp; Compliance: Each issue is sorted into one of four buckets (deep work, quick win, maintenance, deferred) and checked against eight compliance rules. The 3-3-3 day plan is also built here, with classification running a second time internally.</a:t>
            </a:r>
          </a:p>
          <a:p/>
          <a:p>
            <a:r>
              <a:t>Stage 4 — Stress Score: The WorldState aggregates chaos metrics, classification counts, and compliance into 12 capped variables. Six components (workload, chaos, context switching, clarity, sustained load, after-hours) are summed to produce a score from 0 to 100.</a:t>
            </a:r>
          </a:p>
          <a:p/>
          <a:p>
            <a:r>
              <a:t>Stage 5 — AI Agents: Only on reshape. A LangChain4j supervisor receives the fully-calculated WorldState and orchestrates five sub-agents that recommend label mutations. Every agent has a deterministic fallback when the LLM is unavailable.</a:t>
            </a:r>
          </a:p>
          <a:p/>
          <a:p>
            <a:r>
              <a:t>Stage 6 — Output: Mutations are applied to the in-memory cache (not GitHub directly). Stress is recalculated on the mutated issues to show the drop. A Friday deploy score assesses release readiness. Every check-in is persisted as a JPA snapshot for longitudinal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486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8FAFC"/>
                </a:solidFill>
                <a:latin typeface="Segoe UI"/>
              </a:defRPr>
            </a:pPr>
            <a:r>
              <a:t>Burnout-as-a-Service — Algorithm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1430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4A3B8"/>
                </a:solidFill>
                <a:latin typeface="Segoe UI"/>
              </a:defRPr>
            </a:pPr>
            <a:r>
              <a:t>Deterministic services compute all metrics  •  AI agents only explain &amp; act  •  Every agent has a fallback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567" y="2194560"/>
            <a:ext cx="1508760" cy="2743200"/>
          </a:xfrm>
          <a:prstGeom prst="roundRect">
            <a:avLst>
              <a:gd name="adj" fmla="val 10000"/>
            </a:avLst>
          </a:prstGeom>
          <a:solidFill>
            <a:srgbClr val="0B1A31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9487" y="246888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31546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007" y="365760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GitHub Issues</a:t>
            </a:r>
            <a:br/>
            <a:r>
              <a:t>→ Cache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53615" y="3429000"/>
            <a:ext cx="420624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92527" y="2194560"/>
            <a:ext cx="1508760" cy="2743200"/>
          </a:xfrm>
          <a:prstGeom prst="roundRect">
            <a:avLst>
              <a:gd name="adj" fmla="val 10000"/>
            </a:avLst>
          </a:prstGeom>
          <a:solidFill>
            <a:srgbClr val="311F02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95447" y="246888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3967" y="31546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Segoe UI"/>
              </a:defRPr>
            </a:pPr>
            <a:r>
              <a:t>Chaos 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3967" y="365760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5 Signals</a:t>
            </a:r>
            <a:br/>
            <a:r>
              <a:t>→ Score 0–10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19575" y="3429000"/>
            <a:ext cx="420624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8487" y="2194560"/>
            <a:ext cx="1508760" cy="2743200"/>
          </a:xfrm>
          <a:prstGeom prst="roundRect">
            <a:avLst>
              <a:gd name="adj" fmla="val 10000"/>
            </a:avLst>
          </a:prstGeom>
          <a:solidFill>
            <a:srgbClr val="211B32"/>
          </a:solidFill>
          <a:ln w="1905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61407" y="246888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9927" y="31546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Segoe UI"/>
              </a:defRPr>
            </a:pPr>
            <a:r>
              <a:t>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9927" y="365760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4 Buckets</a:t>
            </a:r>
            <a:br/>
            <a:r>
              <a:t>+ Compliance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85535" y="3429000"/>
            <a:ext cx="420624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24447" y="2194560"/>
            <a:ext cx="1508760" cy="2743200"/>
          </a:xfrm>
          <a:prstGeom prst="roundRect">
            <a:avLst>
              <a:gd name="adj" fmla="val 10000"/>
            </a:avLst>
          </a:prstGeom>
          <a:solidFill>
            <a:srgbClr val="092A26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27367" y="2468880"/>
            <a:ext cx="502920" cy="50292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7" y="31546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Segoe UI"/>
              </a:defRPr>
            </a:pPr>
            <a:r>
              <a:t>Stress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65760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WorldState</a:t>
            </a:r>
            <a:br/>
            <a:r>
              <a:t>→ 0–100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51495" y="3429000"/>
            <a:ext cx="420624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90407" y="2194560"/>
            <a:ext cx="1508760" cy="2743200"/>
          </a:xfrm>
          <a:prstGeom prst="roundRect">
            <a:avLst>
              <a:gd name="adj" fmla="val 10000"/>
            </a:avLst>
          </a:prstGeom>
          <a:solidFill>
            <a:srgbClr val="32161A"/>
          </a:solidFill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93327" y="2468880"/>
            <a:ext cx="502920" cy="50292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F172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1847" y="31546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Segoe UI"/>
              </a:defRPr>
            </a:pPr>
            <a:r>
              <a:t>AI Agents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365760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5 Sub-Agents</a:t>
            </a:r>
            <a:br/>
            <a:r>
              <a:t>+ Fallback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817455" y="3429000"/>
            <a:ext cx="420624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256367" y="2194560"/>
            <a:ext cx="1508760" cy="2743200"/>
          </a:xfrm>
          <a:prstGeom prst="roundRect">
            <a:avLst>
              <a:gd name="adj" fmla="val 10000"/>
            </a:avLst>
          </a:prstGeom>
          <a:solidFill>
            <a:srgbClr val="191C31"/>
          </a:solidFill>
          <a:ln w="19050">
            <a:solidFill>
              <a:srgbClr val="818C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759287" y="2468880"/>
            <a:ext cx="502920" cy="502920"/>
          </a:xfrm>
          <a:prstGeom prst="ellipse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8FAFC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47807" y="315468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8FAFC"/>
                </a:solidFill>
                <a:latin typeface="Segoe UI"/>
              </a:defRPr>
            </a:pPr>
            <a: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7807" y="365760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300">
                <a:solidFill>
                  <a:srgbClr val="94A3B8"/>
                </a:solidFill>
                <a:latin typeface="Segoe UI"/>
              </a:defRPr>
            </a:pPr>
            <a:r>
              <a:t>Mutations</a:t>
            </a:r>
            <a:br/>
            <a:r>
              <a:t>+ Persistence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