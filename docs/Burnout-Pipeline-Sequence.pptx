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shows the seven-stage pipeline in execution order. Stages 1–4 (deterministic metrics) and stage 5 (deterministic pre-pass) require no LLM. Stage 6 is the only AI step. Stage 7 closes the loop.</a:t>
            </a:r>
          </a:p>
          <a:p/>
          <a:p>
            <a:r>
              <a:t>Stage 1 — Ingestion: GitHub issues are pulled into a versioned in-memory IssueCache via authenticated MCP sync, the rate-limited /demo/api/sync public endpoint, or the /demo/api/seed test endpoint.</a:t>
            </a:r>
          </a:p>
          <a:p/>
          <a:p>
            <a:r>
              <a:t>Stage 2 — Chaos Metrics: ChaosMetricsService evaluates five binary signals first — mystery meat (≥3 empty bodies), unresolved urgents (≥3), context switching (≥6 in 60 min), after-hours activity, label sprawl (≥12 distinct labels) — producing a chaos score from 0 to 10. Runs BEFORE classification.</a:t>
            </a:r>
          </a:p>
          <a:p/>
          <a:p>
            <a:r>
              <a:t>Stage 3 — Classification &amp; Compliance: IssueClassifierService sorts each issue into one of four buckets (deep work, quick win, maintenance, deferred) using first-match-wins label rules. ComplianceService checks 8 violation rules (score 100 → 0). The 3-3-3 day plan is built here as well.</a:t>
            </a:r>
          </a:p>
          <a:p/>
          <a:p>
            <a:r>
              <a:t>Stage 4 — Stress Score (BEFORE): WorldState aggregates chaos + classification + compliance into 12 capped variables. Six components are summed: Workload (0–40), Chaos (0–30), Context Switching (0–15), Clarity (0–10), Sustained (0–15), After Hours (0–10). Total capped at 100. This is the BEFORE score the demo starts at (~58).</a:t>
            </a:r>
          </a:p>
          <a:p/>
          <a:p>
            <a:r>
              <a:t>Stage 5 — Deterministic Pre-pass (reshape only, no LLM): BurnoutSupervisorService runs two deterministic methods BEFORE any agent is invoked:</a:t>
            </a:r>
          </a:p>
          <a:p>
            <a:r>
              <a:t>  • triageUrgent(n) is called directly for every unassigned-urgent issue, stripping the     `urgent` / `priority:critical` / `priority:high` labels and adding `triaged,backlog`.</a:t>
            </a:r>
          </a:p>
          <a:p>
            <a:r>
              <a:t>  • defuseChaosInputs(clock) replaces empty bodies with a scope-pending placeholder and     normalises after-hours / touched-today timestamps to 10:00 in the demo clock zone.</a:t>
            </a:r>
          </a:p>
          <a:p>
            <a:r>
              <a:t>These two calls guarantee the chaos score drops on every reshape, regardless of which sub-agents the LLM picks. Without this stage the demo's 58 → 8 drop would not be reliable.</a:t>
            </a:r>
          </a:p>
          <a:p/>
          <a:p>
            <a:r>
              <a:t>Stage 6 — Supervisor + 6 Sub-Agents (reshape only, AI): AgenticServices.supervisorBuilder() with maxAgentsInvocations=15 and SupervisorResponseStrategy.SUMMARY orchestrates six sub-agents — TriageAgent, DeferAgent, DelegateAgent, ClassifyAgent, ScopeAgent, WellnessAgent — each backed by @Tool methods on BurnoutMutationTool that emit sealed GitHubAction records (AddLabels, RemoveLabels, Comment, Unassign, SetBody, SetUpdatedAt). Every agent has a deterministic fallback when the LLM is unavailable.</a:t>
            </a:r>
          </a:p>
          <a:p/>
          <a:p>
            <a:r>
              <a:t>Stage 7 — Output: Mutations are applied to the in-memory IssueCache (not to GitHub). The ENTIRE deterministic pipeline (stages 2–4) reruns on the mutated issues to produce the AFTER score (~8 in the demo). A Friday deploy score assesses release readiness (READY ≥ 80, CAUTION ≥ 50, NOT_READY &lt; 50). Every check-in is persisted as a JPA StressSnapshot for the longitudinal Study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Rectangle 6"/>
          <p:cNvSpPr/>
          <p:nvPr/>
        </p:nvSpPr>
        <p:spPr>
          <a:xfrm>
            <a:off x="10343235" y="2011680"/>
            <a:ext cx="1655064" cy="3337560"/>
          </a:xfrm>
          <a:prstGeom prst="rect">
            <a:avLst/>
          </a:prstGeom>
          <a:solidFill>
            <a:srgbClr val="0E0F1B"/>
          </a:solidFill>
          <a:ln w="6350">
            <a:solidFill>
              <a:srgbClr val="2023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51595" y="2011680"/>
            <a:ext cx="1655064" cy="3337560"/>
          </a:xfrm>
          <a:prstGeom prst="rect">
            <a:avLst/>
          </a:prstGeom>
          <a:solidFill>
            <a:srgbClr val="1B0C0E"/>
          </a:solidFill>
          <a:ln w="6350">
            <a:solidFill>
              <a:srgbClr val="3E1C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959955" y="2011680"/>
            <a:ext cx="1655064" cy="3337560"/>
          </a:xfrm>
          <a:prstGeom prst="rect">
            <a:avLst/>
          </a:prstGeom>
          <a:solidFill>
            <a:srgbClr val="051715"/>
          </a:solidFill>
          <a:ln w="6350">
            <a:solidFill>
              <a:srgbClr val="0B35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93395" y="2011680"/>
            <a:ext cx="6729984" cy="3337560"/>
          </a:xfrm>
          <a:prstGeom prst="rect">
            <a:avLst/>
          </a:prstGeom>
          <a:solidFill>
            <a:srgbClr val="051715"/>
          </a:solidFill>
          <a:ln w="6350">
            <a:solidFill>
              <a:srgbClr val="0B35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0" y="45720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8FAFC"/>
                </a:solidFill>
                <a:latin typeface="Segoe UI"/>
              </a:defRPr>
            </a:pPr>
            <a:r>
              <a:t>Burnout-as-a-Service — Algorithm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05156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94A3B8"/>
                </a:solidFill>
                <a:latin typeface="Segoe UI"/>
              </a:defRPr>
            </a:pPr>
            <a:r>
              <a:t>Deterministic services compute every metric  •  Pre-pass guarantees the drop  •  AI agents only rebalance, never decide alone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3395" y="1691640"/>
            <a:ext cx="67299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DD4BF"/>
                </a:solidFill>
                <a:latin typeface="Segoe UI"/>
              </a:defRPr>
            </a:pPr>
            <a:r>
              <a:t>DETERMINISTIC  ·  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59955" y="1691640"/>
            <a:ext cx="16550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DD4BF"/>
                </a:solidFill>
                <a:latin typeface="Segoe UI"/>
              </a:defRPr>
            </a:pPr>
            <a:r>
              <a:t>DETERMINISTIC  ·  pre-pass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51595" y="1691640"/>
            <a:ext cx="16550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B7185"/>
                </a:solidFill>
                <a:latin typeface="Segoe UI"/>
              </a:defRPr>
            </a:pPr>
            <a:r>
              <a:t>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43235" y="1691640"/>
            <a:ext cx="16550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18CF8"/>
                </a:solidFill>
                <a:latin typeface="Segoe UI"/>
              </a:defRPr>
            </a:pPr>
            <a:r>
              <a:t>OUTPUT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7987" y="2194560"/>
            <a:ext cx="1325880" cy="2926080"/>
          </a:xfrm>
          <a:prstGeom prst="roundRect">
            <a:avLst>
              <a:gd name="adj" fmla="val 10000"/>
            </a:avLst>
          </a:prstGeom>
          <a:solidFill>
            <a:srgbClr val="0B1A31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9467" y="2468880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8FAFC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139" y="3154680"/>
            <a:ext cx="11795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Ingestion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139" y="3749040"/>
            <a:ext cx="117957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defRPr sz="1100">
                <a:solidFill>
                  <a:srgbClr val="94A3B8"/>
                </a:solidFill>
                <a:latin typeface="Segoe UI"/>
              </a:defRPr>
            </a:pPr>
            <a:r>
              <a:t>GitHub Issues</a:t>
            </a:r>
            <a:br/>
            <a:r>
              <a:t>→ Cache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1702155" y="3520440"/>
            <a:ext cx="329184" cy="274320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049627" y="2194560"/>
            <a:ext cx="1325880" cy="2926080"/>
          </a:xfrm>
          <a:prstGeom prst="roundRect">
            <a:avLst>
              <a:gd name="adj" fmla="val 10000"/>
            </a:avLst>
          </a:prstGeom>
          <a:solidFill>
            <a:srgbClr val="311F02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461107" y="2468880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8FAFC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22779" y="3154680"/>
            <a:ext cx="11795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Chaos Metrics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22779" y="3749040"/>
            <a:ext cx="117957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defRPr sz="1100">
                <a:solidFill>
                  <a:srgbClr val="94A3B8"/>
                </a:solidFill>
                <a:latin typeface="Segoe UI"/>
              </a:defRPr>
            </a:pPr>
            <a:r>
              <a:t>5 Signals</a:t>
            </a:r>
            <a:br/>
            <a:r>
              <a:t>→ Score 0–10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3393795" y="3520440"/>
            <a:ext cx="329184" cy="274320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741267" y="2194560"/>
            <a:ext cx="1325880" cy="2926080"/>
          </a:xfrm>
          <a:prstGeom prst="roundRect">
            <a:avLst>
              <a:gd name="adj" fmla="val 10000"/>
            </a:avLst>
          </a:prstGeom>
          <a:solidFill>
            <a:srgbClr val="211B32"/>
          </a:soli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152747" y="2468880"/>
            <a:ext cx="502920" cy="50292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F172A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14419" y="3154680"/>
            <a:ext cx="11795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Classification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14419" y="3749040"/>
            <a:ext cx="117957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defRPr sz="1100">
                <a:solidFill>
                  <a:srgbClr val="94A3B8"/>
                </a:solidFill>
                <a:latin typeface="Segoe UI"/>
              </a:defRPr>
            </a:pPr>
            <a:r>
              <a:t>4 Buckets</a:t>
            </a:r>
            <a:br/>
            <a:r>
              <a:t>+ Compliance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5085435" y="3520440"/>
            <a:ext cx="329184" cy="274320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432907" y="2194560"/>
            <a:ext cx="1325880" cy="2926080"/>
          </a:xfrm>
          <a:prstGeom prst="roundRect">
            <a:avLst>
              <a:gd name="adj" fmla="val 10000"/>
            </a:avLst>
          </a:prstGeom>
          <a:solidFill>
            <a:srgbClr val="092A26"/>
          </a:solidFill>
          <a:ln w="1905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844387" y="2468880"/>
            <a:ext cx="502920" cy="50292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F172A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06059" y="3154680"/>
            <a:ext cx="11795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Stress Score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06059" y="3749040"/>
            <a:ext cx="117957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defRPr sz="1100">
                <a:solidFill>
                  <a:srgbClr val="94A3B8"/>
                </a:solidFill>
                <a:latin typeface="Segoe UI"/>
              </a:defRPr>
            </a:pPr>
            <a:r>
              <a:t>WorldState</a:t>
            </a:r>
            <a:br/>
            <a:r>
              <a:t>→ 0–100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6777075" y="3520440"/>
            <a:ext cx="329184" cy="274320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124547" y="2194560"/>
            <a:ext cx="1325880" cy="2926080"/>
          </a:xfrm>
          <a:prstGeom prst="roundRect">
            <a:avLst>
              <a:gd name="adj" fmla="val 10000"/>
            </a:avLst>
          </a:prstGeom>
          <a:solidFill>
            <a:srgbClr val="092A26"/>
          </a:solidFill>
          <a:ln w="1905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536027" y="2468880"/>
            <a:ext cx="502920" cy="50292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F172A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97699" y="3154680"/>
            <a:ext cx="11795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Pre-pass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97699" y="3749040"/>
            <a:ext cx="117957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defRPr sz="1100">
                <a:solidFill>
                  <a:srgbClr val="94A3B8"/>
                </a:solidFill>
                <a:latin typeface="Segoe UI"/>
              </a:defRPr>
            </a:pPr>
            <a:r>
              <a:t>triageUrgent</a:t>
            </a:r>
            <a:br/>
            <a:r>
              <a:t>+ defuseChaos</a:t>
            </a:r>
            <a:br/>
            <a:r>
              <a:t>(no LLM)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8468715" y="3520440"/>
            <a:ext cx="329184" cy="274320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816187" y="2194560"/>
            <a:ext cx="1325880" cy="2926080"/>
          </a:xfrm>
          <a:prstGeom prst="roundRect">
            <a:avLst>
              <a:gd name="adj" fmla="val 10000"/>
            </a:avLst>
          </a:prstGeom>
          <a:solidFill>
            <a:srgbClr val="32161A"/>
          </a:solidFill>
          <a:ln w="1905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227667" y="2468880"/>
            <a:ext cx="502920" cy="50292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8FAFC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89339" y="3154680"/>
            <a:ext cx="11795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Supervisor + 6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89339" y="3749040"/>
            <a:ext cx="117957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defRPr sz="1100">
                <a:solidFill>
                  <a:srgbClr val="94A3B8"/>
                </a:solidFill>
                <a:latin typeface="Segoe UI"/>
              </a:defRPr>
            </a:pPr>
            <a:r>
              <a:t>LangChain4j</a:t>
            </a:r>
            <a:br/>
            <a:r>
              <a:t>6 Sub-Agents</a:t>
            </a:r>
            <a:br/>
            <a:r>
              <a:t>+ Fallback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10160355" y="3520440"/>
            <a:ext cx="329184" cy="274320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0507827" y="2194560"/>
            <a:ext cx="1325880" cy="2926080"/>
          </a:xfrm>
          <a:prstGeom prst="roundRect">
            <a:avLst>
              <a:gd name="adj" fmla="val 10000"/>
            </a:avLst>
          </a:prstGeom>
          <a:solidFill>
            <a:srgbClr val="191C31"/>
          </a:solidFill>
          <a:ln w="1905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919307" y="2468880"/>
            <a:ext cx="502920" cy="502920"/>
          </a:xfrm>
          <a:prstGeom prst="ellipse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8FAFC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80979" y="3154680"/>
            <a:ext cx="11795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Output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80979" y="3749040"/>
            <a:ext cx="117957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defRPr sz="1100">
                <a:solidFill>
                  <a:srgbClr val="94A3B8"/>
                </a:solidFill>
                <a:latin typeface="Segoe UI"/>
              </a:defRPr>
            </a:pPr>
            <a:r>
              <a:t>Apply · Recalc</a:t>
            </a:r>
            <a:br/>
            <a:r>
              <a:t>+ Persist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0" y="5943600"/>
            <a:ext cx="121916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475569"/>
                </a:solidFill>
                <a:latin typeface="Segoe UI"/>
              </a:defRPr>
            </a:pPr>
            <a:r>
              <a:t>BEFORE score (1–4)  →  Pre-pass guarantees the drop (5)  →  AI rebalances (6)  →  Recalculate + persist (7)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